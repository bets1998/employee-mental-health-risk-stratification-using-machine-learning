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7" r:id="rId1"/>
  </p:sldMasterIdLst>
  <p:notesMasterIdLst>
    <p:notesMasterId r:id="rId12"/>
  </p:notesMasterIdLst>
  <p:sldIdLst>
    <p:sldId id="256" r:id="rId2"/>
    <p:sldId id="266" r:id="rId3"/>
    <p:sldId id="267" r:id="rId4"/>
    <p:sldId id="268" r:id="rId5"/>
    <p:sldId id="269" r:id="rId6"/>
    <p:sldId id="275" r:id="rId7"/>
    <p:sldId id="276" r:id="rId8"/>
    <p:sldId id="272" r:id="rId9"/>
    <p:sldId id="273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871"/>
    <a:srgbClr val="9FAFDD"/>
    <a:srgbClr val="E6A98F"/>
    <a:srgbClr val="396667"/>
    <a:srgbClr val="FEFEFE"/>
    <a:srgbClr val="18265D"/>
    <a:srgbClr val="FDFDFD"/>
    <a:srgbClr val="EFF5F4"/>
    <a:srgbClr val="FFFFFF"/>
    <a:srgbClr val="DB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D3FF03-CBE6-4BB8-B43C-DBD195B2E190}" v="8" dt="2026-08-03T22:56:35.780"/>
    <p1510:client id="{C7AFE594-970E-4F46-9709-EABB2AC78ACC}" v="4" dt="2026-08-04T02:47:58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7" autoAdjust="0"/>
  </p:normalViewPr>
  <p:slideViewPr>
    <p:cSldViewPr snapToGrid="0">
      <p:cViewPr varScale="1">
        <p:scale>
          <a:sx n="92" d="100"/>
          <a:sy n="92" d="100"/>
        </p:scale>
        <p:origin x="2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tsy Varghese" userId="5aaf5251cfcfae91" providerId="LiveId" clId="{3F46621C-EDFD-4164-B247-FD2B94710819}"/>
    <pc:docChg chg="undo custSel delSld modSld">
      <pc:chgData name="Betsy Varghese" userId="5aaf5251cfcfae91" providerId="LiveId" clId="{3F46621C-EDFD-4164-B247-FD2B94710819}" dt="2026-08-04T03:20:39.239" v="387" actId="2696"/>
      <pc:docMkLst>
        <pc:docMk/>
      </pc:docMkLst>
      <pc:sldChg chg="modSp mod">
        <pc:chgData name="Betsy Varghese" userId="5aaf5251cfcfae91" providerId="LiveId" clId="{3F46621C-EDFD-4164-B247-FD2B94710819}" dt="2026-08-04T02:53:35.905" v="299" actId="20577"/>
        <pc:sldMkLst>
          <pc:docMk/>
          <pc:sldMk cId="3737257698" sldId="266"/>
        </pc:sldMkLst>
        <pc:spChg chg="mod">
          <ac:chgData name="Betsy Varghese" userId="5aaf5251cfcfae91" providerId="LiveId" clId="{3F46621C-EDFD-4164-B247-FD2B94710819}" dt="2026-08-04T02:47:19.779" v="242" actId="20578"/>
          <ac:spMkLst>
            <pc:docMk/>
            <pc:sldMk cId="3737257698" sldId="266"/>
            <ac:spMk id="3" creationId="{118FC112-99B9-8566-B67B-1EE81E45EE58}"/>
          </ac:spMkLst>
        </pc:spChg>
        <pc:spChg chg="mod">
          <ac:chgData name="Betsy Varghese" userId="5aaf5251cfcfae91" providerId="LiveId" clId="{3F46621C-EDFD-4164-B247-FD2B94710819}" dt="2026-08-04T02:47:19.779" v="242" actId="20578"/>
          <ac:spMkLst>
            <pc:docMk/>
            <pc:sldMk cId="3737257698" sldId="266"/>
            <ac:spMk id="7" creationId="{C9975DF2-2AD6-F849-0433-B0344B56B7AC}"/>
          </ac:spMkLst>
        </pc:spChg>
        <pc:spChg chg="mod">
          <ac:chgData name="Betsy Varghese" userId="5aaf5251cfcfae91" providerId="LiveId" clId="{3F46621C-EDFD-4164-B247-FD2B94710819}" dt="2026-08-04T02:47:19.779" v="242" actId="20578"/>
          <ac:spMkLst>
            <pc:docMk/>
            <pc:sldMk cId="3737257698" sldId="266"/>
            <ac:spMk id="15" creationId="{0C1A5E5D-2BF4-FDFB-131C-996CFC9DCF2B}"/>
          </ac:spMkLst>
        </pc:spChg>
        <pc:spChg chg="mod">
          <ac:chgData name="Betsy Varghese" userId="5aaf5251cfcfae91" providerId="LiveId" clId="{3F46621C-EDFD-4164-B247-FD2B94710819}" dt="2026-08-04T02:47:19.779" v="242" actId="20578"/>
          <ac:spMkLst>
            <pc:docMk/>
            <pc:sldMk cId="3737257698" sldId="266"/>
            <ac:spMk id="41" creationId="{B4C5A765-1661-C6BA-7983-C97B3443413B}"/>
          </ac:spMkLst>
        </pc:spChg>
        <pc:spChg chg="mod">
          <ac:chgData name="Betsy Varghese" userId="5aaf5251cfcfae91" providerId="LiveId" clId="{3F46621C-EDFD-4164-B247-FD2B94710819}" dt="2026-08-04T02:51:55.414" v="273" actId="20577"/>
          <ac:spMkLst>
            <pc:docMk/>
            <pc:sldMk cId="3737257698" sldId="266"/>
            <ac:spMk id="43" creationId="{623B8151-72AC-5C26-4BC4-35CF9F4D1DE4}"/>
          </ac:spMkLst>
        </pc:spChg>
        <pc:spChg chg="mod">
          <ac:chgData name="Betsy Varghese" userId="5aaf5251cfcfae91" providerId="LiveId" clId="{3F46621C-EDFD-4164-B247-FD2B94710819}" dt="2026-08-04T02:47:19.779" v="242" actId="20578"/>
          <ac:spMkLst>
            <pc:docMk/>
            <pc:sldMk cId="3737257698" sldId="266"/>
            <ac:spMk id="47" creationId="{FBBBC343-089F-1917-CB60-B7A4BDFA3CE8}"/>
          </ac:spMkLst>
        </pc:spChg>
        <pc:spChg chg="mod">
          <ac:chgData name="Betsy Varghese" userId="5aaf5251cfcfae91" providerId="LiveId" clId="{3F46621C-EDFD-4164-B247-FD2B94710819}" dt="2026-08-04T02:47:19.779" v="242" actId="20578"/>
          <ac:spMkLst>
            <pc:docMk/>
            <pc:sldMk cId="3737257698" sldId="266"/>
            <ac:spMk id="48" creationId="{08699DB1-0A7C-EB63-2E46-D0B2BA54088C}"/>
          </ac:spMkLst>
        </pc:spChg>
        <pc:spChg chg="mod">
          <ac:chgData name="Betsy Varghese" userId="5aaf5251cfcfae91" providerId="LiveId" clId="{3F46621C-EDFD-4164-B247-FD2B94710819}" dt="2026-08-04T02:53:35.905" v="299" actId="20577"/>
          <ac:spMkLst>
            <pc:docMk/>
            <pc:sldMk cId="3737257698" sldId="266"/>
            <ac:spMk id="52" creationId="{C0D16B53-93CD-E60C-DB04-ACA22EE89E1F}"/>
          </ac:spMkLst>
        </pc:spChg>
        <pc:spChg chg="mod">
          <ac:chgData name="Betsy Varghese" userId="5aaf5251cfcfae91" providerId="LiveId" clId="{3F46621C-EDFD-4164-B247-FD2B94710819}" dt="2026-08-04T02:47:19.779" v="242" actId="20578"/>
          <ac:spMkLst>
            <pc:docMk/>
            <pc:sldMk cId="3737257698" sldId="266"/>
            <ac:spMk id="54" creationId="{CE1A4E0B-7500-CEE3-A5B7-9B5150CC360E}"/>
          </ac:spMkLst>
        </pc:spChg>
        <pc:spChg chg="mod">
          <ac:chgData name="Betsy Varghese" userId="5aaf5251cfcfae91" providerId="LiveId" clId="{3F46621C-EDFD-4164-B247-FD2B94710819}" dt="2026-08-04T02:47:19.779" v="242" actId="20578"/>
          <ac:spMkLst>
            <pc:docMk/>
            <pc:sldMk cId="3737257698" sldId="266"/>
            <ac:spMk id="55" creationId="{15608088-77E4-A16B-3A4C-3B00EA0C2E98}"/>
          </ac:spMkLst>
        </pc:spChg>
        <pc:spChg chg="mod">
          <ac:chgData name="Betsy Varghese" userId="5aaf5251cfcfae91" providerId="LiveId" clId="{3F46621C-EDFD-4164-B247-FD2B94710819}" dt="2026-08-04T02:47:19.779" v="242" actId="20578"/>
          <ac:spMkLst>
            <pc:docMk/>
            <pc:sldMk cId="3737257698" sldId="266"/>
            <ac:spMk id="56" creationId="{589EBD54-7828-95DD-D193-0B524351DD63}"/>
          </ac:spMkLst>
        </pc:spChg>
        <pc:grpChg chg="mod">
          <ac:chgData name="Betsy Varghese" userId="5aaf5251cfcfae91" providerId="LiveId" clId="{3F46621C-EDFD-4164-B247-FD2B94710819}" dt="2026-08-04T02:53:17.149" v="275" actId="1076"/>
          <ac:grpSpMkLst>
            <pc:docMk/>
            <pc:sldMk cId="3737257698" sldId="266"/>
            <ac:grpSpMk id="62" creationId="{2343842E-E438-4A80-5AA7-4765990DD8E1}"/>
          </ac:grpSpMkLst>
        </pc:grpChg>
      </pc:sldChg>
      <pc:sldChg chg="modSp mod">
        <pc:chgData name="Betsy Varghese" userId="5aaf5251cfcfae91" providerId="LiveId" clId="{3F46621C-EDFD-4164-B247-FD2B94710819}" dt="2026-08-04T03:03:28.512" v="386" actId="1035"/>
        <pc:sldMkLst>
          <pc:docMk/>
          <pc:sldMk cId="628461546" sldId="269"/>
        </pc:sldMkLst>
        <pc:spChg chg="mod">
          <ac:chgData name="Betsy Varghese" userId="5aaf5251cfcfae91" providerId="LiveId" clId="{3F46621C-EDFD-4164-B247-FD2B94710819}" dt="2026-08-04T03:01:01.467" v="326" actId="20577"/>
          <ac:spMkLst>
            <pc:docMk/>
            <pc:sldMk cId="628461546" sldId="269"/>
            <ac:spMk id="2" creationId="{33981BA6-C9F5-5749-38EF-144E3CA18055}"/>
          </ac:spMkLst>
        </pc:spChg>
        <pc:spChg chg="mod">
          <ac:chgData name="Betsy Varghese" userId="5aaf5251cfcfae91" providerId="LiveId" clId="{3F46621C-EDFD-4164-B247-FD2B94710819}" dt="2026-08-04T03:02:21.327" v="384" actId="20577"/>
          <ac:spMkLst>
            <pc:docMk/>
            <pc:sldMk cId="628461546" sldId="269"/>
            <ac:spMk id="8" creationId="{490F929D-1351-E558-DB2A-164059964D91}"/>
          </ac:spMkLst>
        </pc:spChg>
        <pc:picChg chg="mod">
          <ac:chgData name="Betsy Varghese" userId="5aaf5251cfcfae91" providerId="LiveId" clId="{3F46621C-EDFD-4164-B247-FD2B94710819}" dt="2026-08-04T03:03:28.512" v="386" actId="1035"/>
          <ac:picMkLst>
            <pc:docMk/>
            <pc:sldMk cId="628461546" sldId="269"/>
            <ac:picMk id="4" creationId="{B208BE68-79E4-C26A-117F-39CE657C02DF}"/>
          </ac:picMkLst>
        </pc:picChg>
      </pc:sldChg>
      <pc:sldChg chg="del">
        <pc:chgData name="Betsy Varghese" userId="5aaf5251cfcfae91" providerId="LiveId" clId="{3F46621C-EDFD-4164-B247-FD2B94710819}" dt="2026-08-04T03:20:39.239" v="387" actId="2696"/>
        <pc:sldMkLst>
          <pc:docMk/>
          <pc:sldMk cId="662598708" sldId="274"/>
        </pc:sldMkLst>
      </pc:sldChg>
    </pc:docChg>
  </pc:docChgLst>
  <pc:docChgLst>
    <pc:chgData name="Betty Varghese" userId="37b4d7ccc7f2c823" providerId="LiveId" clId="{6C2122C8-D134-42B1-8FF1-698967CB6DD1}"/>
    <pc:docChg chg="undo custSel addSld delSld modSld">
      <pc:chgData name="Betty Varghese" userId="37b4d7ccc7f2c823" providerId="LiveId" clId="{6C2122C8-D134-42B1-8FF1-698967CB6DD1}" dt="2026-08-03T23:01:57.494" v="280" actId="47"/>
      <pc:docMkLst>
        <pc:docMk/>
      </pc:docMkLst>
      <pc:sldChg chg="add del">
        <pc:chgData name="Betty Varghese" userId="37b4d7ccc7f2c823" providerId="LiveId" clId="{6C2122C8-D134-42B1-8FF1-698967CB6DD1}" dt="2026-08-03T22:38:42.937" v="47" actId="47"/>
        <pc:sldMkLst>
          <pc:docMk/>
          <pc:sldMk cId="699330212" sldId="262"/>
        </pc:sldMkLst>
      </pc:sldChg>
      <pc:sldChg chg="del">
        <pc:chgData name="Betty Varghese" userId="37b4d7ccc7f2c823" providerId="LiveId" clId="{6C2122C8-D134-42B1-8FF1-698967CB6DD1}" dt="2026-08-03T22:49:25.703" v="164" actId="47"/>
        <pc:sldMkLst>
          <pc:docMk/>
          <pc:sldMk cId="1945202264" sldId="263"/>
        </pc:sldMkLst>
      </pc:sldChg>
      <pc:sldChg chg="del">
        <pc:chgData name="Betty Varghese" userId="37b4d7ccc7f2c823" providerId="LiveId" clId="{6C2122C8-D134-42B1-8FF1-698967CB6DD1}" dt="2026-08-03T22:54:17.491" v="246" actId="47"/>
        <pc:sldMkLst>
          <pc:docMk/>
          <pc:sldMk cId="2356399107" sldId="264"/>
        </pc:sldMkLst>
      </pc:sldChg>
      <pc:sldChg chg="del">
        <pc:chgData name="Betty Varghese" userId="37b4d7ccc7f2c823" providerId="LiveId" clId="{6C2122C8-D134-42B1-8FF1-698967CB6DD1}" dt="2026-08-03T23:01:57.494" v="280" actId="47"/>
        <pc:sldMkLst>
          <pc:docMk/>
          <pc:sldMk cId="3487025440" sldId="265"/>
        </pc:sldMkLst>
      </pc:sldChg>
      <pc:sldChg chg="addSp delSp modSp add mod">
        <pc:chgData name="Betty Varghese" userId="37b4d7ccc7f2c823" providerId="LiveId" clId="{6C2122C8-D134-42B1-8FF1-698967CB6DD1}" dt="2026-08-03T22:37:26.701" v="44" actId="164"/>
        <pc:sldMkLst>
          <pc:docMk/>
          <pc:sldMk cId="3577608703" sldId="271"/>
        </pc:sldMkLst>
        <pc:spChg chg="mod">
          <ac:chgData name="Betty Varghese" userId="37b4d7ccc7f2c823" providerId="LiveId" clId="{6C2122C8-D134-42B1-8FF1-698967CB6DD1}" dt="2026-08-03T22:33:16.524" v="11" actId="20577"/>
          <ac:spMkLst>
            <pc:docMk/>
            <pc:sldMk cId="3577608703" sldId="271"/>
            <ac:spMk id="2" creationId="{73EFC74D-04CF-02C8-14D6-E1C85AC2BF82}"/>
          </ac:spMkLst>
        </pc:spChg>
        <pc:grpChg chg="add mod">
          <ac:chgData name="Betty Varghese" userId="37b4d7ccc7f2c823" providerId="LiveId" clId="{6C2122C8-D134-42B1-8FF1-698967CB6DD1}" dt="2026-08-03T22:37:26.701" v="44" actId="164"/>
          <ac:grpSpMkLst>
            <pc:docMk/>
            <pc:sldMk cId="3577608703" sldId="271"/>
            <ac:grpSpMk id="7" creationId="{4E2F5BE6-18D8-68E1-B989-6A47D494BBAE}"/>
          </ac:grpSpMkLst>
        </pc:grpChg>
        <pc:picChg chg="add mod modCrop">
          <ac:chgData name="Betty Varghese" userId="37b4d7ccc7f2c823" providerId="LiveId" clId="{6C2122C8-D134-42B1-8FF1-698967CB6DD1}" dt="2026-08-03T22:37:26.701" v="44" actId="164"/>
          <ac:picMkLst>
            <pc:docMk/>
            <pc:sldMk cId="3577608703" sldId="271"/>
            <ac:picMk id="4" creationId="{3B0DEE44-6836-07E8-423E-4689E8E839E0}"/>
          </ac:picMkLst>
        </pc:picChg>
        <pc:picChg chg="del">
          <ac:chgData name="Betty Varghese" userId="37b4d7ccc7f2c823" providerId="LiveId" clId="{6C2122C8-D134-42B1-8FF1-698967CB6DD1}" dt="2026-08-03T22:33:08.776" v="1" actId="478"/>
          <ac:picMkLst>
            <pc:docMk/>
            <pc:sldMk cId="3577608703" sldId="271"/>
            <ac:picMk id="5" creationId="{213702D8-19DC-E541-5A24-6438D3D4ECE3}"/>
          </ac:picMkLst>
        </pc:picChg>
        <pc:picChg chg="add mod modCrop">
          <ac:chgData name="Betty Varghese" userId="37b4d7ccc7f2c823" providerId="LiveId" clId="{6C2122C8-D134-42B1-8FF1-698967CB6DD1}" dt="2026-08-03T22:37:26.701" v="44" actId="164"/>
          <ac:picMkLst>
            <pc:docMk/>
            <pc:sldMk cId="3577608703" sldId="271"/>
            <ac:picMk id="6" creationId="{0DB21A04-5E3F-7770-38DD-381378FA105A}"/>
          </ac:picMkLst>
        </pc:picChg>
      </pc:sldChg>
      <pc:sldChg chg="addSp delSp modSp add mod">
        <pc:chgData name="Betty Varghese" userId="37b4d7ccc7f2c823" providerId="LiveId" clId="{6C2122C8-D134-42B1-8FF1-698967CB6DD1}" dt="2026-08-03T22:49:03.017" v="163" actId="1038"/>
        <pc:sldMkLst>
          <pc:docMk/>
          <pc:sldMk cId="9453889" sldId="272"/>
        </pc:sldMkLst>
        <pc:spChg chg="mod">
          <ac:chgData name="Betty Varghese" userId="37b4d7ccc7f2c823" providerId="LiveId" clId="{6C2122C8-D134-42B1-8FF1-698967CB6DD1}" dt="2026-08-03T22:40:23.368" v="82" actId="20577"/>
          <ac:spMkLst>
            <pc:docMk/>
            <pc:sldMk cId="9453889" sldId="272"/>
            <ac:spMk id="2" creationId="{C4EC902E-CA3E-66A1-0D64-6601CBB30E22}"/>
          </ac:spMkLst>
        </pc:spChg>
        <pc:grpChg chg="del">
          <ac:chgData name="Betty Varghese" userId="37b4d7ccc7f2c823" providerId="LiveId" clId="{6C2122C8-D134-42B1-8FF1-698967CB6DD1}" dt="2026-08-03T22:39:55.752" v="49" actId="478"/>
          <ac:grpSpMkLst>
            <pc:docMk/>
            <pc:sldMk cId="9453889" sldId="272"/>
            <ac:grpSpMk id="7" creationId="{53C983FA-F88E-AA79-26D9-E6549D09410B}"/>
          </ac:grpSpMkLst>
        </pc:grpChg>
        <pc:picChg chg="add del mod">
          <ac:chgData name="Betty Varghese" userId="37b4d7ccc7f2c823" providerId="LiveId" clId="{6C2122C8-D134-42B1-8FF1-698967CB6DD1}" dt="2026-08-03T22:45:24.518" v="90" actId="478"/>
          <ac:picMkLst>
            <pc:docMk/>
            <pc:sldMk cId="9453889" sldId="272"/>
            <ac:picMk id="5" creationId="{3ED46043-21FE-3179-10A6-4B3E476E0256}"/>
          </ac:picMkLst>
        </pc:picChg>
        <pc:picChg chg="add mod modCrop">
          <ac:chgData name="Betty Varghese" userId="37b4d7ccc7f2c823" providerId="LiveId" clId="{6C2122C8-D134-42B1-8FF1-698967CB6DD1}" dt="2026-08-03T22:49:03.017" v="163" actId="1038"/>
          <ac:picMkLst>
            <pc:docMk/>
            <pc:sldMk cId="9453889" sldId="272"/>
            <ac:picMk id="9" creationId="{55BD17A1-D3AC-D1F9-1BD1-CFA50B9AD9C5}"/>
          </ac:picMkLst>
        </pc:picChg>
        <pc:picChg chg="add mod modCrop">
          <ac:chgData name="Betty Varghese" userId="37b4d7ccc7f2c823" providerId="LiveId" clId="{6C2122C8-D134-42B1-8FF1-698967CB6DD1}" dt="2026-08-03T22:48:52.837" v="128" actId="12788"/>
          <ac:picMkLst>
            <pc:docMk/>
            <pc:sldMk cId="9453889" sldId="272"/>
            <ac:picMk id="10" creationId="{5FDB1902-38E5-0FFF-E036-4183FAC2A2DC}"/>
          </ac:picMkLst>
        </pc:picChg>
      </pc:sldChg>
      <pc:sldChg chg="addSp delSp modSp add mod">
        <pc:chgData name="Betty Varghese" userId="37b4d7ccc7f2c823" providerId="LiveId" clId="{6C2122C8-D134-42B1-8FF1-698967CB6DD1}" dt="2026-08-03T22:54:00.433" v="245" actId="12788"/>
        <pc:sldMkLst>
          <pc:docMk/>
          <pc:sldMk cId="3179764413" sldId="273"/>
        </pc:sldMkLst>
        <pc:spChg chg="mod">
          <ac:chgData name="Betty Varghese" userId="37b4d7ccc7f2c823" providerId="LiveId" clId="{6C2122C8-D134-42B1-8FF1-698967CB6DD1}" dt="2026-08-03T22:51:50.877" v="227" actId="20577"/>
          <ac:spMkLst>
            <pc:docMk/>
            <pc:sldMk cId="3179764413" sldId="273"/>
            <ac:spMk id="2" creationId="{2D587536-A4D7-C6A7-FC43-3C05485483AF}"/>
          </ac:spMkLst>
        </pc:spChg>
        <pc:picChg chg="add del mod modCrop">
          <ac:chgData name="Betty Varghese" userId="37b4d7ccc7f2c823" providerId="LiveId" clId="{6C2122C8-D134-42B1-8FF1-698967CB6DD1}" dt="2026-08-03T22:53:45.865" v="229" actId="478"/>
          <ac:picMkLst>
            <pc:docMk/>
            <pc:sldMk cId="3179764413" sldId="273"/>
            <ac:picMk id="4" creationId="{24DA8115-F4B5-4A4A-E156-A1C6CA7241CB}"/>
          </ac:picMkLst>
        </pc:picChg>
        <pc:picChg chg="add mod">
          <ac:chgData name="Betty Varghese" userId="37b4d7ccc7f2c823" providerId="LiveId" clId="{6C2122C8-D134-42B1-8FF1-698967CB6DD1}" dt="2026-08-03T22:54:00.433" v="245" actId="12788"/>
          <ac:picMkLst>
            <pc:docMk/>
            <pc:sldMk cId="3179764413" sldId="273"/>
            <ac:picMk id="6" creationId="{FDDA9A67-9AD6-50FD-F75F-A94DF2E98742}"/>
          </ac:picMkLst>
        </pc:picChg>
        <pc:picChg chg="del">
          <ac:chgData name="Betty Varghese" userId="37b4d7ccc7f2c823" providerId="LiveId" clId="{6C2122C8-D134-42B1-8FF1-698967CB6DD1}" dt="2026-08-03T22:50:09.107" v="167" actId="478"/>
          <ac:picMkLst>
            <pc:docMk/>
            <pc:sldMk cId="3179764413" sldId="273"/>
            <ac:picMk id="9" creationId="{B66E8D5B-1AF7-C807-47FD-E4DD4727CAA4}"/>
          </ac:picMkLst>
        </pc:picChg>
        <pc:picChg chg="del">
          <ac:chgData name="Betty Varghese" userId="37b4d7ccc7f2c823" providerId="LiveId" clId="{6C2122C8-D134-42B1-8FF1-698967CB6DD1}" dt="2026-08-03T22:50:07.240" v="166" actId="478"/>
          <ac:picMkLst>
            <pc:docMk/>
            <pc:sldMk cId="3179764413" sldId="273"/>
            <ac:picMk id="10" creationId="{73E2F698-7E65-4A49-4E5E-B8A4ACCBFF23}"/>
          </ac:picMkLst>
        </pc:picChg>
      </pc:sldChg>
      <pc:sldChg chg="addSp delSp modSp add mod modNotesTx">
        <pc:chgData name="Betty Varghese" userId="37b4d7ccc7f2c823" providerId="LiveId" clId="{6C2122C8-D134-42B1-8FF1-698967CB6DD1}" dt="2026-08-03T22:59:14.600" v="279" actId="12788"/>
        <pc:sldMkLst>
          <pc:docMk/>
          <pc:sldMk cId="662598708" sldId="274"/>
        </pc:sldMkLst>
        <pc:picChg chg="add del mod modCrop">
          <ac:chgData name="Betty Varghese" userId="37b4d7ccc7f2c823" providerId="LiveId" clId="{6C2122C8-D134-42B1-8FF1-698967CB6DD1}" dt="2026-08-03T22:58:50.095" v="272" actId="478"/>
          <ac:picMkLst>
            <pc:docMk/>
            <pc:sldMk cId="662598708" sldId="274"/>
            <ac:picMk id="4" creationId="{1F47093D-1A14-26F4-7E48-CFB46C37ADDD}"/>
          </ac:picMkLst>
        </pc:picChg>
        <pc:picChg chg="del">
          <ac:chgData name="Betty Varghese" userId="37b4d7ccc7f2c823" providerId="LiveId" clId="{6C2122C8-D134-42B1-8FF1-698967CB6DD1}" dt="2026-08-03T22:56:27.601" v="249" actId="478"/>
          <ac:picMkLst>
            <pc:docMk/>
            <pc:sldMk cId="662598708" sldId="274"/>
            <ac:picMk id="6" creationId="{2375DC84-E934-74BC-326B-1010D5718287}"/>
          </ac:picMkLst>
        </pc:picChg>
        <pc:picChg chg="add mod modCrop">
          <ac:chgData name="Betty Varghese" userId="37b4d7ccc7f2c823" providerId="LiveId" clId="{6C2122C8-D134-42B1-8FF1-698967CB6DD1}" dt="2026-08-03T22:59:14.600" v="279" actId="12788"/>
          <ac:picMkLst>
            <pc:docMk/>
            <pc:sldMk cId="662598708" sldId="274"/>
            <ac:picMk id="7" creationId="{C1253A79-D511-C070-94D1-3020E6DE6B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Introduce the project as exploratory survey-risk stratification rather than depression or anxiety diagnosis.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User-supplied notebook: CP_1_on_Survey_Data_Risk_Stratification_PGA38_Betsy Varghese(3).</a:t>
            </a:r>
            <a:r>
              <a:rPr dirty="0" err="1"/>
              <a:t>ipynb</a:t>
            </a:r>
            <a:r>
              <a:rPr dirty="0"/>
              <a:t>, title and project scope</a:t>
            </a:r>
          </a:p>
          <a:p>
            <a:r>
              <a:rPr dirty="0"/>
              <a:t>- User-supplied presentation: Survey_Risk_Stratification.pptx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Emphasize that leakage prevention is required for believable performance on unseen respondents.</a:t>
            </a:r>
          </a:p>
          <a:p>
            <a:endParaRPr lang="en-IN" dirty="0"/>
          </a:p>
          <a:p>
            <a:r>
              <a:rPr lang="en-IN" dirty="0"/>
              <a:t>[Sources]</a:t>
            </a:r>
          </a:p>
          <a:p>
            <a:r>
              <a:rPr lang="en-IN" dirty="0"/>
              <a:t>- User-supplied notebook: CP_1_on_Survey_Data_Risk_Stratification_PGA38_Betsy Varghese(3).</a:t>
            </a:r>
            <a:r>
              <a:rPr lang="en-IN" dirty="0" err="1"/>
              <a:t>ipynb</a:t>
            </a:r>
            <a:r>
              <a:rPr lang="en-IN" dirty="0"/>
              <a:t>, Cells 16 and 38</a:t>
            </a:r>
          </a:p>
          <a:p>
            <a:r>
              <a:rPr lang="en-IN" dirty="0"/>
              <a:t>- User-supplied presentation: Survey_Risk_Stratification.pptx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930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BE07-38CF-69F1-DE0B-8D3D376D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3F000-8D7F-7E67-E4C0-92D2CC701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1A102-E08C-74AC-DE53-080E05821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27-to-20 feature transition. State is almost entirely US-specific among non-missing entries, but not exclusively: 740 US and four non-US entries.</a:t>
            </a:r>
          </a:p>
          <a:p>
            <a:endParaRPr lang="en-US" dirty="0"/>
          </a:p>
          <a:p>
            <a:r>
              <a:rPr lang="en-US" dirty="0"/>
              <a:t>[Sources]</a:t>
            </a:r>
          </a:p>
          <a:p>
            <a:r>
              <a:rPr lang="en-US" dirty="0"/>
              <a:t>- User-supplied notebook: CP_1_on_Survey_Data_Risk_Stratification_PGA38_Betsy Varghese(3).</a:t>
            </a:r>
            <a:r>
              <a:rPr lang="en-US" dirty="0" err="1"/>
              <a:t>ipynb</a:t>
            </a:r>
            <a:r>
              <a:rPr lang="en-US" dirty="0"/>
              <a:t>, Cells 22, 23 and 38</a:t>
            </a:r>
          </a:p>
          <a:p>
            <a:r>
              <a:rPr lang="en-US" dirty="0"/>
              <a:t>- User-supplied presentation: Survey_Risk_Stratification.pptx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D13C5-A17B-9BE2-DFCF-D9CD6BC3D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450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727ED-3A88-CE37-88AD-CFDD0DDC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57690D-8FF4-00D7-1D1F-93E178067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28652-F6C4-5514-8F8E-CBFFDFD22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interference receives double weight as the direct functional-impact signal. Missing source values are treated as zero, which is an explicit assumption and limitation.</a:t>
            </a:r>
          </a:p>
          <a:p>
            <a:endParaRPr lang="en-US" dirty="0"/>
          </a:p>
          <a:p>
            <a:r>
              <a:rPr lang="en-US" dirty="0"/>
              <a:t>[Sources]</a:t>
            </a:r>
          </a:p>
          <a:p>
            <a:r>
              <a:rPr lang="en-US" dirty="0"/>
              <a:t>- User-supplied notebook: CP_1_on_Survey_Data_Risk_Stratification_PGA38_Betsy Varghese(3).</a:t>
            </a:r>
            <a:r>
              <a:rPr lang="en-US" dirty="0" err="1"/>
              <a:t>ipynb</a:t>
            </a:r>
            <a:r>
              <a:rPr lang="en-US" dirty="0"/>
              <a:t>, Cells 16 and 32</a:t>
            </a:r>
          </a:p>
          <a:p>
            <a:r>
              <a:rPr lang="en-US" dirty="0"/>
              <a:t>- User-supplied presentation: Survey_Risk_Stratification.pptx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D6FC8-17A5-4CDE-B786-FB636FB9F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720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8CF4-98D2-35FC-F362-661C02D3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4B934-5AFE-2F7A-2B07-A8711438A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4C3E1-5AE2-43CC-2A7D-30C31E765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Imputation, scaling and encoding are fitted inside training folds through the Pipeline; this prevents preprocessing leakage.</a:t>
            </a:r>
          </a:p>
          <a:p>
            <a:endParaRPr lang="en-IN" dirty="0"/>
          </a:p>
          <a:p>
            <a:r>
              <a:rPr lang="en-IN" dirty="0"/>
              <a:t>[Sources]</a:t>
            </a:r>
          </a:p>
          <a:p>
            <a:r>
              <a:rPr lang="en-IN" dirty="0"/>
              <a:t>- User-supplied notebook: CP_1_on_Survey_Data_Risk_Stratification_PGA38_Betsy Varghese(3).</a:t>
            </a:r>
            <a:r>
              <a:rPr lang="en-IN" dirty="0" err="1"/>
              <a:t>ipynb</a:t>
            </a:r>
            <a:r>
              <a:rPr lang="en-IN" dirty="0"/>
              <a:t>, Cells 13, 26, 34, 35, 38 and 42</a:t>
            </a:r>
          </a:p>
          <a:p>
            <a:r>
              <a:rPr lang="en-IN" dirty="0"/>
              <a:t>- User-supplied presentation: Survey_Risk_Stratification.pptx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10ACC-9C2C-1D0D-1C23-C52ECE094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148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B99D-C4FA-E5D6-4B59-BAEFA4C2D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4E11B-1186-0056-FF98-E03ABF8B7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02AC7-1DA3-59AA-A354-FBC3E0D66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test set remains untouched until Extra Trees has been selected from cross-validation.</a:t>
            </a:r>
          </a:p>
          <a:p>
            <a:endParaRPr lang="en-IN" dirty="0"/>
          </a:p>
          <a:p>
            <a:r>
              <a:rPr lang="en-IN" dirty="0"/>
              <a:t>[Sources]</a:t>
            </a:r>
          </a:p>
          <a:p>
            <a:r>
              <a:rPr lang="en-IN" dirty="0"/>
              <a:t>- User-supplied notebook: CP_1_on_Survey_Data_Risk_Stratification_PGA38_Betsy Varghese(3).</a:t>
            </a:r>
            <a:r>
              <a:rPr lang="en-IN" dirty="0" err="1"/>
              <a:t>ipynb</a:t>
            </a:r>
            <a:r>
              <a:rPr lang="en-IN" dirty="0"/>
              <a:t>, Cells 40, 42, 44–63</a:t>
            </a:r>
          </a:p>
          <a:p>
            <a:r>
              <a:rPr lang="en-IN" dirty="0"/>
              <a:t>- User-supplied presentation: Survey_Risk_Stratification.pptx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94639-AE70-7F13-9F45-E14F0EE19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485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7F3E-3E1B-4786-B3C0-81901105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0BDDC-4515-A8A9-E5C9-70FBC2137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A9564-EBE0-7310-913D-18C607C7D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two leading tree ensembles are effectively tied; Extra Trees wins by approximately 0.0001 macro-F1.</a:t>
            </a:r>
          </a:p>
          <a:p>
            <a:endParaRPr lang="en-IN" dirty="0"/>
          </a:p>
          <a:p>
            <a:r>
              <a:rPr lang="en-IN" dirty="0"/>
              <a:t>[Sources]</a:t>
            </a:r>
          </a:p>
          <a:p>
            <a:r>
              <a:rPr lang="en-IN" dirty="0"/>
              <a:t>- User-supplied notebook: CP_1_on_Survey_Data_Risk_Stratification_PGA38_Betsy Varghese(3).</a:t>
            </a:r>
            <a:r>
              <a:rPr lang="en-IN" dirty="0" err="1"/>
              <a:t>ipynb</a:t>
            </a:r>
            <a:r>
              <a:rPr lang="en-IN" dirty="0"/>
              <a:t>, Cells 50–63</a:t>
            </a:r>
          </a:p>
          <a:p>
            <a:r>
              <a:rPr lang="en-IN" dirty="0"/>
              <a:t>- User-supplied presentation: Survey_Risk_Stratification.pptx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3A900-EC45-CF9E-D984-7440E29B7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063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986B-3169-5465-BA15-1B822103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925BA-23AF-22B2-6B57-025D0A23C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4F7364-2B31-BECF-1C1B-9B323F03C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confusion matrix detects 67 of 113 High-risk respondents and misses 46. The feature-importance image is from tuned Random Forest, as coded in the notebook, not from the selected Extra Trees model.</a:t>
            </a:r>
          </a:p>
          <a:p>
            <a:endParaRPr lang="en-US" dirty="0"/>
          </a:p>
          <a:p>
            <a:r>
              <a:rPr lang="en-US" dirty="0"/>
              <a:t>[Sources]</a:t>
            </a:r>
          </a:p>
          <a:p>
            <a:r>
              <a:rPr lang="en-US" dirty="0"/>
              <a:t>- User-supplied notebook: CP_1_on_Survey_Data_Risk_Stratification_PGA38_Betsy Varghese(3).</a:t>
            </a:r>
            <a:r>
              <a:rPr lang="en-US" dirty="0" err="1"/>
              <a:t>ipynb</a:t>
            </a:r>
            <a:r>
              <a:rPr lang="en-US" dirty="0"/>
              <a:t>, Cells 65–73</a:t>
            </a:r>
          </a:p>
          <a:p>
            <a:r>
              <a:rPr lang="en-US" dirty="0"/>
              <a:t>- User-supplied presentation: Survey_Risk_Stratification.pptx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15736-DB8D-B5C7-4CA8-C04F2086B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082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4E315-4A77-E8EB-D8BE-9BF04B17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37C4C-3DF4-FA0C-6CEC-D37E140F5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8BCEC-0C30-390D-09A6-031887970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Close with the distinction between an exploratory screening signal and a clinically validated tool.</a:t>
            </a:r>
          </a:p>
          <a:p>
            <a:endParaRPr lang="en-IN" dirty="0"/>
          </a:p>
          <a:p>
            <a:r>
              <a:rPr lang="en-IN" dirty="0"/>
              <a:t>[Sources]</a:t>
            </a:r>
          </a:p>
          <a:p>
            <a:r>
              <a:rPr lang="en-IN" dirty="0"/>
              <a:t>- User-supplied notebook: CP_1_on_Survey_Data_Risk_Stratification_PGA38_Betsy Varghese(3).</a:t>
            </a:r>
            <a:r>
              <a:rPr lang="en-IN" dirty="0" err="1"/>
              <a:t>ipynb</a:t>
            </a:r>
            <a:r>
              <a:rPr lang="en-IN" dirty="0"/>
              <a:t>, Cells 63–73</a:t>
            </a:r>
          </a:p>
          <a:p>
            <a:r>
              <a:rPr lang="en-IN" dirty="0"/>
              <a:t>- User-supplied presentation: Survey_Risk_Stratification.pptx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4D316-FF1A-BD1B-5422-AF34CC515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795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CD6A-F3F2-5511-503D-65316D1B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A8A38-802D-526A-3C1E-FBC7A8675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E2DA4-CEFD-C01F-0A3F-B06482E09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Close with the distinction between an exploratory screening signal and a clinically validated tool.</a:t>
            </a:r>
          </a:p>
          <a:p>
            <a:endParaRPr lang="en-IN" dirty="0"/>
          </a:p>
          <a:p>
            <a:r>
              <a:rPr lang="en-IN" dirty="0"/>
              <a:t>[Sources]</a:t>
            </a:r>
          </a:p>
          <a:p>
            <a:r>
              <a:rPr lang="en-IN" dirty="0"/>
              <a:t>- User-supplied notebook: CP_1_on_Survey_Data_Risk_Stratification_PGA38_Betsy Varghese(3).</a:t>
            </a:r>
            <a:r>
              <a:rPr lang="en-IN" dirty="0" err="1"/>
              <a:t>ipynb</a:t>
            </a:r>
            <a:r>
              <a:rPr lang="en-IN" dirty="0"/>
              <a:t>, Cells 63–73</a:t>
            </a:r>
          </a:p>
          <a:p>
            <a:r>
              <a:rPr lang="en-IN" dirty="0"/>
              <a:t>- User-supplied presentation: Survey_Risk_Stratification.pptx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8E894-81DD-B0C1-FD6B-39DDDDCC6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8148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44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751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140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220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494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709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945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142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977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004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018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237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776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246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40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37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262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568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755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006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077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250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767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332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122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350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583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9E41-0B90-0271-FECA-CE50FBCAE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82EC0-9A27-5950-944E-5B608263B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A1518-D704-5797-0F54-8DF51A9E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65C7-6F72-0E5A-36C1-97CBFB9EA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09951-3510-D96E-5271-E21D08D5A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33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3A98EE3D-8CD1-4C3F-BD1C-C98C9596463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208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959" y="992524"/>
            <a:ext cx="6844969" cy="2847956"/>
          </a:xfrm>
        </p:spPr>
        <p:txBody>
          <a:bodyPr anchor="t">
            <a:normAutofit fontScale="90000"/>
          </a:bodyPr>
          <a:lstStyle/>
          <a:p>
            <a:pPr algn="l">
              <a:lnSpc>
                <a:spcPct val="92000"/>
              </a:lnSpc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4650" b="1" cap="none" dirty="0">
                <a:solidFill>
                  <a:srgbClr val="FFFFFF"/>
                </a:solidFill>
              </a:rPr>
              <a:t>Employee Mental-health Risk Stratification  </a:t>
            </a:r>
            <a:br>
              <a:rPr lang="en-IN" sz="4650" b="1" dirty="0">
                <a:solidFill>
                  <a:srgbClr val="FFFFFF"/>
                </a:solidFill>
              </a:rPr>
            </a:br>
            <a:r>
              <a:rPr lang="en-IN" sz="4650" b="1" cap="none" dirty="0">
                <a:solidFill>
                  <a:schemeClr val="tx2">
                    <a:lumMod val="25000"/>
                    <a:lumOff val="75000"/>
                  </a:schemeClr>
                </a:solidFill>
              </a:rPr>
              <a:t>Using Machine Learning</a:t>
            </a:r>
            <a:br>
              <a:rPr lang="en-IN" sz="1200" b="1" dirty="0">
                <a:solidFill>
                  <a:srgbClr val="FFFFFF"/>
                </a:solidFill>
              </a:rPr>
            </a:br>
            <a:r>
              <a:rPr lang="en-IN" sz="2000" dirty="0">
                <a:solidFill>
                  <a:srgbClr val="13393F"/>
                </a:solidFill>
              </a:rPr>
              <a:t>______</a:t>
            </a:r>
            <a:br>
              <a:rPr lang="en-IN" sz="1100" b="1" dirty="0">
                <a:solidFill>
                  <a:srgbClr val="FFFFFF"/>
                </a:solidFill>
              </a:rPr>
            </a:br>
            <a:br>
              <a:rPr lang="en-IN" sz="1100" b="1" dirty="0">
                <a:solidFill>
                  <a:srgbClr val="FFFFFF"/>
                </a:solidFill>
              </a:rPr>
            </a:br>
            <a:r>
              <a:rPr lang="en-IN" sz="2200" i="1" cap="none" dirty="0">
                <a:solidFill>
                  <a:schemeClr val="bg1"/>
                </a:solidFill>
                <a:latin typeface="Aptos" panose="020B0004020202020204" pitchFamily="34" charset="0"/>
              </a:rPr>
              <a:t>An Exploratory Survey-Based Screening Framework</a:t>
            </a:r>
            <a:br>
              <a:rPr lang="en-IN" sz="2200" i="1" cap="none" dirty="0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</a:br>
            <a:r>
              <a:rPr lang="en-IN" sz="2200" i="1" cap="none" dirty="0">
                <a:solidFill>
                  <a:schemeClr val="bg1"/>
                </a:solidFill>
                <a:latin typeface="Aptos" panose="020B0004020202020204" pitchFamily="34" charset="0"/>
              </a:rPr>
              <a:t>_________________________________________________</a:t>
            </a:r>
            <a:endParaRPr sz="4650" i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897E12-D6D5-F240-EB58-EC149A8516A7}"/>
              </a:ext>
            </a:extLst>
          </p:cNvPr>
          <p:cNvSpPr/>
          <p:nvPr/>
        </p:nvSpPr>
        <p:spPr>
          <a:xfrm>
            <a:off x="643967" y="379876"/>
            <a:ext cx="2208961" cy="2967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ptos" panose="020B0004020202020204" pitchFamily="34" charset="0"/>
              </a:rPr>
              <a:t>CAPSTONE PROJECT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162C87-3694-BF34-236D-184D22AA7565}"/>
              </a:ext>
            </a:extLst>
          </p:cNvPr>
          <p:cNvGrpSpPr/>
          <p:nvPr/>
        </p:nvGrpSpPr>
        <p:grpSpPr>
          <a:xfrm>
            <a:off x="0" y="5394960"/>
            <a:ext cx="12192000" cy="1024128"/>
            <a:chOff x="0" y="5029200"/>
            <a:chExt cx="12192000" cy="102412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4525319-EC93-E12F-54BF-CA2216A4C50D}"/>
                </a:ext>
              </a:extLst>
            </p:cNvPr>
            <p:cNvSpPr/>
            <p:nvPr/>
          </p:nvSpPr>
          <p:spPr>
            <a:xfrm>
              <a:off x="0" y="5029200"/>
              <a:ext cx="12192000" cy="1024128"/>
            </a:xfrm>
            <a:prstGeom prst="rect">
              <a:avLst/>
            </a:prstGeom>
            <a:solidFill>
              <a:srgbClr val="1339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38454B4-825D-E595-F856-7685A274C168}"/>
                </a:ext>
              </a:extLst>
            </p:cNvPr>
            <p:cNvGrpSpPr/>
            <p:nvPr/>
          </p:nvGrpSpPr>
          <p:grpSpPr>
            <a:xfrm>
              <a:off x="685800" y="5155282"/>
              <a:ext cx="2139071" cy="760119"/>
              <a:chOff x="685800" y="5155282"/>
              <a:chExt cx="2139071" cy="760119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B5C70CE-7FEE-4023-D2F3-83D919F0A0A2}"/>
                  </a:ext>
                </a:extLst>
              </p:cNvPr>
              <p:cNvGrpSpPr/>
              <p:nvPr/>
            </p:nvGrpSpPr>
            <p:grpSpPr>
              <a:xfrm>
                <a:off x="685800" y="5185864"/>
                <a:ext cx="457200" cy="457200"/>
                <a:chOff x="561670" y="5159747"/>
                <a:chExt cx="457200" cy="457200"/>
              </a:xfrm>
            </p:grpSpPr>
            <p:sp>
              <p:nvSpPr>
                <p:cNvPr id="17" name="Flowchart: Connector 16">
                  <a:extLst>
                    <a:ext uri="{FF2B5EF4-FFF2-40B4-BE49-F238E27FC236}">
                      <a16:creationId xmlns:a16="http://schemas.microsoft.com/office/drawing/2014/main" id="{8EA07C43-8384-7374-5A09-2358766E8E26}"/>
                    </a:ext>
                  </a:extLst>
                </p:cNvPr>
                <p:cNvSpPr/>
                <p:nvPr/>
              </p:nvSpPr>
              <p:spPr>
                <a:xfrm>
                  <a:off x="561670" y="5159747"/>
                  <a:ext cx="457200" cy="457200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8" name="Graphic 7" descr="User with solid fill">
                  <a:extLst>
                    <a:ext uri="{FF2B5EF4-FFF2-40B4-BE49-F238E27FC236}">
                      <a16:creationId xmlns:a16="http://schemas.microsoft.com/office/drawing/2014/main" id="{65F8ACB7-293D-FF00-537A-0D263E7876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423" y="5213644"/>
                  <a:ext cx="349406" cy="349406"/>
                </a:xfrm>
                <a:prstGeom prst="rect">
                  <a:avLst/>
                </a:prstGeom>
              </p:spPr>
            </p:pic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D60A31-3998-EB77-137E-C4787DA24371}"/>
                  </a:ext>
                </a:extLst>
              </p:cNvPr>
              <p:cNvSpPr txBox="1"/>
              <p:nvPr/>
            </p:nvSpPr>
            <p:spPr>
              <a:xfrm>
                <a:off x="1143000" y="5155282"/>
                <a:ext cx="1681871" cy="46166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IN" sz="1400" b="1" dirty="0">
                    <a:solidFill>
                      <a:schemeClr val="bg1"/>
                    </a:solidFill>
                    <a:latin typeface="Aptos Narrow" panose="020B0004020202020204" pitchFamily="34" charset="0"/>
                  </a:rPr>
                  <a:t>Betsy Varghese</a:t>
                </a:r>
              </a:p>
              <a:p>
                <a:r>
                  <a:rPr lang="en-IN" sz="1000" b="1" dirty="0">
                    <a:solidFill>
                      <a:schemeClr val="bg1"/>
                    </a:solidFill>
                    <a:latin typeface="Aptos Narrow" panose="020B0004020202020204" pitchFamily="34" charset="0"/>
                  </a:rPr>
                  <a:t>PGA38 | Capstone Project 1</a:t>
                </a:r>
              </a:p>
            </p:txBody>
          </p:sp>
          <p:pic>
            <p:nvPicPr>
              <p:cNvPr id="15" name="Graphic 14" descr="Schoolhouse with solid fill">
                <a:extLst>
                  <a:ext uri="{FF2B5EF4-FFF2-40B4-BE49-F238E27FC236}">
                    <a16:creationId xmlns:a16="http://schemas.microsoft.com/office/drawing/2014/main" id="{18FDF86D-262A-68D8-1F76-4554D5BABC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92607" y="5616948"/>
                <a:ext cx="270433" cy="270433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C46C6B-8E7A-8F80-949D-318FF3FAD96D}"/>
                  </a:ext>
                </a:extLst>
              </p:cNvPr>
              <p:cNvSpPr txBox="1"/>
              <p:nvPr/>
            </p:nvSpPr>
            <p:spPr>
              <a:xfrm>
                <a:off x="1417320" y="5669180"/>
                <a:ext cx="824265" cy="2462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IN" sz="1000" dirty="0">
                    <a:solidFill>
                      <a:schemeClr val="bg1"/>
                    </a:solidFill>
                    <a:latin typeface="Aptos Narrow" panose="020B0004020202020204" pitchFamily="34" charset="0"/>
                  </a:rPr>
                  <a:t>August 2026</a:t>
                </a:r>
                <a:endParaRPr lang="en-IN" sz="600" dirty="0">
                  <a:solidFill>
                    <a:schemeClr val="bg1"/>
                  </a:solidFill>
                  <a:latin typeface="Aptos Narrow" panose="020B00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14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D5F0-6445-5D0D-E2C4-14024797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92" y="91440"/>
            <a:ext cx="11243617" cy="347472"/>
          </a:xfrm>
        </p:spPr>
        <p:txBody>
          <a:bodyPr>
            <a:noAutofit/>
          </a:bodyPr>
          <a:lstStyle/>
          <a:p>
            <a:r>
              <a:rPr lang="en-IN" sz="2400" b="1" spc="300" dirty="0"/>
              <a:t>Problem Statement &amp; Research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7491F-656E-F59F-1E7F-C4F0F239FA2A}"/>
              </a:ext>
            </a:extLst>
          </p:cNvPr>
          <p:cNvSpPr txBox="1"/>
          <p:nvPr/>
        </p:nvSpPr>
        <p:spPr>
          <a:xfrm flipH="1">
            <a:off x="474191" y="646981"/>
            <a:ext cx="6263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solidFill>
                  <a:srgbClr val="18265D"/>
                </a:solidFill>
                <a:latin typeface="Aptos" panose="020B0004020202020204" pitchFamily="34" charset="0"/>
              </a:rPr>
              <a:t>Building a trustworthy model begins with solving the right problem and preventing data leakage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43842E-E438-4A80-5AA7-4765990DD8E1}"/>
              </a:ext>
            </a:extLst>
          </p:cNvPr>
          <p:cNvGrpSpPr/>
          <p:nvPr/>
        </p:nvGrpSpPr>
        <p:grpSpPr>
          <a:xfrm>
            <a:off x="749649" y="1335414"/>
            <a:ext cx="10692703" cy="5065384"/>
            <a:chOff x="749649" y="1335414"/>
            <a:chExt cx="10692703" cy="506538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18FC112-99B9-8566-B67B-1EE81E45EE58}"/>
                </a:ext>
              </a:extLst>
            </p:cNvPr>
            <p:cNvSpPr/>
            <p:nvPr/>
          </p:nvSpPr>
          <p:spPr>
            <a:xfrm>
              <a:off x="749649" y="1335414"/>
              <a:ext cx="5192782" cy="4451228"/>
            </a:xfrm>
            <a:prstGeom prst="roundRect">
              <a:avLst>
                <a:gd name="adj" fmla="val 5427"/>
              </a:avLst>
            </a:prstGeom>
            <a:solidFill>
              <a:srgbClr val="F8FBFF"/>
            </a:solidFill>
            <a:ln>
              <a:solidFill>
                <a:srgbClr val="D4DE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9975DF2-2AD6-F849-0433-B0344B56B7AC}"/>
                </a:ext>
              </a:extLst>
            </p:cNvPr>
            <p:cNvSpPr/>
            <p:nvPr/>
          </p:nvSpPr>
          <p:spPr>
            <a:xfrm>
              <a:off x="6249570" y="1335414"/>
              <a:ext cx="5192782" cy="4451228"/>
            </a:xfrm>
            <a:prstGeom prst="roundRect">
              <a:avLst>
                <a:gd name="adj" fmla="val 5427"/>
              </a:avLst>
            </a:prstGeom>
            <a:solidFill>
              <a:srgbClr val="FDFDFE"/>
            </a:solidFill>
            <a:ln>
              <a:solidFill>
                <a:srgbClr val="DBE7E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0D934A9-52F2-5C7C-DBFC-29AE4DB7046B}"/>
                </a:ext>
              </a:extLst>
            </p:cNvPr>
            <p:cNvGrpSpPr/>
            <p:nvPr/>
          </p:nvGrpSpPr>
          <p:grpSpPr>
            <a:xfrm>
              <a:off x="1083077" y="1534671"/>
              <a:ext cx="3185769" cy="694779"/>
              <a:chOff x="1083077" y="1570183"/>
              <a:chExt cx="3185769" cy="69477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C9C28F5-DF0B-07E6-D8D9-4E1BE1CD2D69}"/>
                  </a:ext>
                </a:extLst>
              </p:cNvPr>
              <p:cNvGrpSpPr/>
              <p:nvPr/>
            </p:nvGrpSpPr>
            <p:grpSpPr>
              <a:xfrm>
                <a:off x="1083077" y="1570183"/>
                <a:ext cx="692458" cy="694779"/>
                <a:chOff x="6096000" y="904357"/>
                <a:chExt cx="665826" cy="643631"/>
              </a:xfrm>
            </p:grpSpPr>
            <p:sp>
              <p:nvSpPr>
                <p:cNvPr id="15" name="Flowchart: Connector 14">
                  <a:extLst>
                    <a:ext uri="{FF2B5EF4-FFF2-40B4-BE49-F238E27FC236}">
                      <a16:creationId xmlns:a16="http://schemas.microsoft.com/office/drawing/2014/main" id="{0C1A5E5D-2BF4-FDFB-131C-996CFC9DCF2B}"/>
                    </a:ext>
                  </a:extLst>
                </p:cNvPr>
                <p:cNvSpPr/>
                <p:nvPr/>
              </p:nvSpPr>
              <p:spPr>
                <a:xfrm>
                  <a:off x="6096000" y="904357"/>
                  <a:ext cx="665826" cy="643631"/>
                </a:xfrm>
                <a:prstGeom prst="flowChartConnector">
                  <a:avLst/>
                </a:prstGeom>
                <a:solidFill>
                  <a:srgbClr val="1826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13" name="Graphic 12" descr="Warning with solid fill">
                  <a:extLst>
                    <a:ext uri="{FF2B5EF4-FFF2-40B4-BE49-F238E27FC236}">
                      <a16:creationId xmlns:a16="http://schemas.microsoft.com/office/drawing/2014/main" id="{9FC4C408-1A25-5FFF-7862-66F23AE205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92545" y="950404"/>
                  <a:ext cx="472736" cy="472736"/>
                </a:xfrm>
                <a:prstGeom prst="rect">
                  <a:avLst/>
                </a:prstGeom>
              </p:spPr>
            </p:pic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4C5A765-1661-C6BA-7983-C97B3443413B}"/>
                  </a:ext>
                </a:extLst>
              </p:cNvPr>
              <p:cNvSpPr txBox="1"/>
              <p:nvPr/>
            </p:nvSpPr>
            <p:spPr>
              <a:xfrm>
                <a:off x="1775535" y="1600198"/>
                <a:ext cx="2493311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>
                    <a:solidFill>
                      <a:srgbClr val="18265D"/>
                    </a:solidFill>
                    <a:latin typeface="Aptos" panose="020B0004020202020204" pitchFamily="34" charset="0"/>
                  </a:rPr>
                  <a:t>PROBLEM STATEMENT</a:t>
                </a:r>
              </a:p>
              <a:p>
                <a:r>
                  <a:rPr lang="en-IN" sz="700" b="1" dirty="0">
                    <a:solidFill>
                      <a:srgbClr val="18265D"/>
                    </a:solidFill>
                    <a:latin typeface="Aptos" panose="020B0004020202020204" pitchFamily="34" charset="0"/>
                  </a:rPr>
                  <a:t>________________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23B8151-72AC-5C26-4BC4-35CF9F4D1DE4}"/>
                </a:ext>
              </a:extLst>
            </p:cNvPr>
            <p:cNvSpPr txBox="1"/>
            <p:nvPr/>
          </p:nvSpPr>
          <p:spPr>
            <a:xfrm>
              <a:off x="1083077" y="2426071"/>
              <a:ext cx="4750927" cy="3754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Aptos" panose="020B0004020202020204" pitchFamily="34" charset="0"/>
                </a:rPr>
                <a:t>Build a screening tool that classifies tech-industry employees into Low- and High-risk groups based on their mental health.</a:t>
              </a:r>
            </a:p>
            <a:p>
              <a:endParaRPr lang="en-US" sz="1400" dirty="0">
                <a:latin typeface="Aptos" panose="020B0004020202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sz="1400" dirty="0">
                <a:latin typeface="Aptos" panose="020B0004020202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Aptos" panose="020B0004020202020204" pitchFamily="34" charset="0"/>
                </a:rPr>
                <a:t>Compare ten machine-learning models (baseline -</a:t>
              </a:r>
              <a:r>
                <a:rPr lang="en-IN" sz="1400" dirty="0">
                  <a:latin typeface="Aptos" panose="020B0004020202020204" pitchFamily="34" charset="0"/>
                </a:rPr>
                <a:t>Logistic Regression, SVM, KNN, Naive Bayes, MLP</a:t>
              </a:r>
              <a:r>
                <a:rPr lang="en-US" sz="1400" dirty="0">
                  <a:latin typeface="Aptos" panose="020B0004020202020204" pitchFamily="34" charset="0"/>
                </a:rPr>
                <a:t> and ensemble - </a:t>
              </a:r>
              <a:r>
                <a:rPr lang="en-IN" sz="1400" dirty="0">
                  <a:latin typeface="Aptos" panose="020B0004020202020204" pitchFamily="34" charset="0"/>
                </a:rPr>
                <a:t>Random Forest, Extra Trees, AdaBoost, Gradient Boosting, </a:t>
              </a:r>
              <a:r>
                <a:rPr lang="en-IN" sz="1400" dirty="0" err="1">
                  <a:latin typeface="Aptos" panose="020B0004020202020204" pitchFamily="34" charset="0"/>
                </a:rPr>
                <a:t>XGBoost</a:t>
              </a:r>
              <a:r>
                <a:rPr lang="en-US" sz="1400" dirty="0">
                  <a:latin typeface="Aptos" panose="020B0004020202020204" pitchFamily="34" charset="0"/>
                </a:rPr>
                <a:t>) using macro-F1, while tracking High-risk recall.</a:t>
              </a:r>
            </a:p>
            <a:p>
              <a:endParaRPr lang="en-US" sz="1400" dirty="0">
                <a:latin typeface="Aptos" panose="020B0004020202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sz="1400" dirty="0">
                <a:latin typeface="Aptos" panose="020B0004020202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Aptos" panose="020B0004020202020204" pitchFamily="34" charset="0"/>
                </a:rPr>
                <a:t>The purpose is not a clinical diagnosis, but to surface cases needing closer human review on timely basis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sz="1400" dirty="0">
                <a:latin typeface="Aptos" panose="020B0004020202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sz="1400" dirty="0">
                <a:latin typeface="Aptos" panose="020B0004020202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IN" sz="1400" dirty="0">
                <a:latin typeface="Aptos" panose="020B0004020202020204" pitchFamily="34" charset="0"/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EFE76C6-1413-CD89-C6D2-BDFC21F9836C}"/>
                </a:ext>
              </a:extLst>
            </p:cNvPr>
            <p:cNvGrpSpPr/>
            <p:nvPr/>
          </p:nvGrpSpPr>
          <p:grpSpPr>
            <a:xfrm>
              <a:off x="6562079" y="1536967"/>
              <a:ext cx="4863343" cy="694779"/>
              <a:chOff x="1083077" y="1570183"/>
              <a:chExt cx="4863343" cy="694779"/>
            </a:xfrm>
          </p:grpSpPr>
          <p:sp>
            <p:nvSpPr>
              <p:cNvPr id="48" name="Flowchart: Connector 47">
                <a:extLst>
                  <a:ext uri="{FF2B5EF4-FFF2-40B4-BE49-F238E27FC236}">
                    <a16:creationId xmlns:a16="http://schemas.microsoft.com/office/drawing/2014/main" id="{08699DB1-0A7C-EB63-2E46-D0B2BA54088C}"/>
                  </a:ext>
                </a:extLst>
              </p:cNvPr>
              <p:cNvSpPr/>
              <p:nvPr/>
            </p:nvSpPr>
            <p:spPr>
              <a:xfrm>
                <a:off x="1083077" y="1570183"/>
                <a:ext cx="692458" cy="694779"/>
              </a:xfrm>
              <a:prstGeom prst="flowChartConnector">
                <a:avLst/>
              </a:prstGeom>
              <a:solidFill>
                <a:srgbClr val="3869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BBBC343-089F-1917-CB60-B7A4BDFA3CE8}"/>
                  </a:ext>
                </a:extLst>
              </p:cNvPr>
              <p:cNvSpPr txBox="1"/>
              <p:nvPr/>
            </p:nvSpPr>
            <p:spPr>
              <a:xfrm>
                <a:off x="1775535" y="1600198"/>
                <a:ext cx="4170885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>
                    <a:solidFill>
                      <a:srgbClr val="386971"/>
                    </a:solidFill>
                    <a:latin typeface="Aptos" panose="020B0004020202020204" pitchFamily="34" charset="0"/>
                  </a:rPr>
                  <a:t>WHY LEAKAGE PREVENTION MATTERS</a:t>
                </a:r>
              </a:p>
              <a:p>
                <a:r>
                  <a:rPr lang="en-IN" sz="700" b="1" dirty="0">
                    <a:solidFill>
                      <a:srgbClr val="386971"/>
                    </a:solidFill>
                    <a:latin typeface="Aptos" panose="020B0004020202020204" pitchFamily="34" charset="0"/>
                  </a:rPr>
                  <a:t>________________</a:t>
                </a:r>
              </a:p>
            </p:txBody>
          </p:sp>
        </p:grpSp>
        <p:pic>
          <p:nvPicPr>
            <p:cNvPr id="51" name="Graphic 50" descr="Lock with solid fill">
              <a:extLst>
                <a:ext uri="{FF2B5EF4-FFF2-40B4-BE49-F238E27FC236}">
                  <a16:creationId xmlns:a16="http://schemas.microsoft.com/office/drawing/2014/main" id="{DDD5AF90-60AF-CE13-696B-FEE40B6723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23393" y="1564685"/>
              <a:ext cx="569387" cy="569387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0D16B53-93CD-E60C-DB04-ACA22EE89E1F}"/>
                </a:ext>
              </a:extLst>
            </p:cNvPr>
            <p:cNvSpPr txBox="1"/>
            <p:nvPr/>
          </p:nvSpPr>
          <p:spPr>
            <a:xfrm>
              <a:off x="6658352" y="2419144"/>
              <a:ext cx="4783999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Aptos" panose="020B0004020202020204" pitchFamily="34" charset="0"/>
                </a:rPr>
                <a:t>The four variables used to engineer the target variable - work_interfere, </a:t>
              </a:r>
              <a:r>
                <a:rPr lang="en-US" sz="1400" dirty="0" err="1">
                  <a:latin typeface="Aptos" panose="020B0004020202020204" pitchFamily="34" charset="0"/>
                </a:rPr>
                <a:t>family_history</a:t>
              </a:r>
              <a:r>
                <a:rPr lang="en-US" sz="1400" dirty="0">
                  <a:latin typeface="Aptos" panose="020B0004020202020204" pitchFamily="34" charset="0"/>
                </a:rPr>
                <a:t>, treatment and obs_consequence - are excluded from the predictors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sz="1400" dirty="0">
                <a:latin typeface="Aptos" panose="020B0004020202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Aptos" panose="020B0004020202020204" pitchFamily="34" charset="0"/>
                </a:rPr>
                <a:t>Keeping them would reveal the answer to the model, inflate validation scores and reduce trust on unseen data.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sz="1400" dirty="0">
                <a:latin typeface="Aptos" panose="020B0004020202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Aptos" panose="020B0004020202020204" pitchFamily="34" charset="0"/>
                </a:rPr>
                <a:t>Timestamp, comments, state and Gender are also excluded because they add limited modeling value, are unstructured or highly incomplete.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sz="1400" dirty="0">
                <a:latin typeface="Aptos" panose="020B0004020202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Aptos" panose="020B0004020202020204" pitchFamily="34" charset="0"/>
                </a:rPr>
                <a:t>Leakage prevention is essential for unbiased and trustworthy performance on unseen respondents.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sz="1600" dirty="0">
                <a:latin typeface="Aptos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52F3CD1-DB94-AF87-8E08-A28852207955}"/>
                </a:ext>
              </a:extLst>
            </p:cNvPr>
            <p:cNvSpPr/>
            <p:nvPr/>
          </p:nvSpPr>
          <p:spPr>
            <a:xfrm>
              <a:off x="1675129" y="5899178"/>
              <a:ext cx="8418782" cy="501620"/>
            </a:xfrm>
            <a:prstGeom prst="roundRect">
              <a:avLst/>
            </a:prstGeom>
            <a:solidFill>
              <a:srgbClr val="FDFDFE"/>
            </a:solidFill>
            <a:ln>
              <a:solidFill>
                <a:srgbClr val="E4EB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E1A4E0B-7500-CEE3-A5B7-9B5150CC360E}"/>
                </a:ext>
              </a:extLst>
            </p:cNvPr>
            <p:cNvSpPr txBox="1"/>
            <p:nvPr/>
          </p:nvSpPr>
          <p:spPr>
            <a:xfrm>
              <a:off x="2162993" y="6000758"/>
              <a:ext cx="129554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>
                  <a:latin typeface="Aptos" panose="020B0004020202020204" pitchFamily="34" charset="0"/>
                </a:rPr>
                <a:t>Survey Responses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5608088-77E4-A16B-3A4C-3B00EA0C2E98}"/>
                </a:ext>
              </a:extLst>
            </p:cNvPr>
            <p:cNvSpPr txBox="1"/>
            <p:nvPr/>
          </p:nvSpPr>
          <p:spPr>
            <a:xfrm>
              <a:off x="4919958" y="6009090"/>
              <a:ext cx="15151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>
                  <a:latin typeface="Aptos" panose="020B0004020202020204" pitchFamily="34" charset="0"/>
                </a:rPr>
                <a:t>Leakage-Free Dataset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89EBD54-7828-95DD-D193-0B524351DD63}"/>
                </a:ext>
              </a:extLst>
            </p:cNvPr>
            <p:cNvSpPr txBox="1"/>
            <p:nvPr/>
          </p:nvSpPr>
          <p:spPr>
            <a:xfrm>
              <a:off x="7896534" y="6018210"/>
              <a:ext cx="16738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>
                  <a:latin typeface="Aptos" panose="020B0004020202020204" pitchFamily="34" charset="0"/>
                </a:rPr>
                <a:t>Machine Learning Model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C5DCD69-9D9B-0C97-19C4-BF08643A7820}"/>
                </a:ext>
              </a:extLst>
            </p:cNvPr>
            <p:cNvCxnSpPr>
              <a:cxnSpLocks/>
            </p:cNvCxnSpPr>
            <p:nvPr/>
          </p:nvCxnSpPr>
          <p:spPr>
            <a:xfrm>
              <a:off x="3558634" y="6147722"/>
              <a:ext cx="1227333" cy="0"/>
            </a:xfrm>
            <a:prstGeom prst="straightConnector1">
              <a:avLst/>
            </a:prstGeom>
            <a:ln>
              <a:solidFill>
                <a:srgbClr val="18265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25B902C-E93E-853B-2C8D-D3A22C9C3E79}"/>
                </a:ext>
              </a:extLst>
            </p:cNvPr>
            <p:cNvCxnSpPr>
              <a:cxnSpLocks/>
            </p:cNvCxnSpPr>
            <p:nvPr/>
          </p:nvCxnSpPr>
          <p:spPr>
            <a:xfrm>
              <a:off x="6570235" y="6156600"/>
              <a:ext cx="1227333" cy="0"/>
            </a:xfrm>
            <a:prstGeom prst="straightConnector1">
              <a:avLst/>
            </a:prstGeom>
            <a:ln>
              <a:solidFill>
                <a:srgbClr val="18265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0AE9CF4B-58F6-DA3C-E34A-FFA8F1DD82DE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  <a:solidFill>
            <a:srgbClr val="386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25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C7E53-C9C0-86F1-A852-6BE75819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595E47B0-7292-5A83-A52F-D5AADB847D88}"/>
              </a:ext>
            </a:extLst>
          </p:cNvPr>
          <p:cNvGrpSpPr/>
          <p:nvPr/>
        </p:nvGrpSpPr>
        <p:grpSpPr>
          <a:xfrm>
            <a:off x="350872" y="1076643"/>
            <a:ext cx="11486279" cy="5321509"/>
            <a:chOff x="350872" y="1076643"/>
            <a:chExt cx="11486279" cy="532150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E944C46-F0E5-D4F5-ADCF-A8CCF0CA505E}"/>
                </a:ext>
              </a:extLst>
            </p:cNvPr>
            <p:cNvGrpSpPr/>
            <p:nvPr/>
          </p:nvGrpSpPr>
          <p:grpSpPr>
            <a:xfrm>
              <a:off x="575565" y="1076643"/>
              <a:ext cx="11040870" cy="914400"/>
              <a:chOff x="575565" y="1193604"/>
              <a:chExt cx="11040870" cy="914400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0B394C50-945D-A134-5217-9A66EF3788F6}"/>
                  </a:ext>
                </a:extLst>
              </p:cNvPr>
              <p:cNvSpPr/>
              <p:nvPr/>
            </p:nvSpPr>
            <p:spPr>
              <a:xfrm>
                <a:off x="575565" y="1193604"/>
                <a:ext cx="11040870" cy="914400"/>
              </a:xfrm>
              <a:prstGeom prst="roundRect">
                <a:avLst>
                  <a:gd name="adj" fmla="val 5040"/>
                </a:avLst>
              </a:prstGeom>
              <a:solidFill>
                <a:srgbClr val="F8FBFF"/>
              </a:solidFill>
              <a:ln w="3175">
                <a:solidFill>
                  <a:srgbClr val="8CA8B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7B5BE0-6B55-6193-55AB-CD6780B0A5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2164" y="1318438"/>
                <a:ext cx="0" cy="669850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4004674-D0DA-F0F5-E35B-125ECA3591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5969" y="1318438"/>
                <a:ext cx="0" cy="669850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3FD77F-BB37-01A8-B64F-32CE44C3B6E5}"/>
                  </a:ext>
                </a:extLst>
              </p:cNvPr>
              <p:cNvSpPr txBox="1"/>
              <p:nvPr/>
            </p:nvSpPr>
            <p:spPr>
              <a:xfrm>
                <a:off x="1777039" y="1373805"/>
                <a:ext cx="92365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rgbClr val="18265D"/>
                    </a:solidFill>
                    <a:latin typeface="Aptos" panose="020B0004020202020204" pitchFamily="34" charset="0"/>
                  </a:rPr>
                  <a:t>1,259</a:t>
                </a:r>
              </a:p>
              <a:p>
                <a:pPr algn="ctr"/>
                <a:r>
                  <a:rPr lang="en-IN" sz="1200" dirty="0">
                    <a:latin typeface="Aptos" panose="020B0004020202020204" pitchFamily="34" charset="0"/>
                  </a:rPr>
                  <a:t>Responses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83F3F1-4431-2F41-683F-60B134E533ED}"/>
                  </a:ext>
                </a:extLst>
              </p:cNvPr>
              <p:cNvSpPr txBox="1"/>
              <p:nvPr/>
            </p:nvSpPr>
            <p:spPr>
              <a:xfrm>
                <a:off x="5283084" y="1373805"/>
                <a:ext cx="111197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rgbClr val="18265D"/>
                    </a:solidFill>
                    <a:latin typeface="Aptos" panose="020B0004020202020204" pitchFamily="34" charset="0"/>
                  </a:rPr>
                  <a:t>27</a:t>
                </a:r>
              </a:p>
              <a:p>
                <a:pPr algn="ctr"/>
                <a:r>
                  <a:rPr lang="en-IN" sz="1200" dirty="0">
                    <a:latin typeface="Aptos" panose="020B0004020202020204" pitchFamily="34" charset="0"/>
                  </a:rPr>
                  <a:t>Raw Columns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B6DFAB-3575-10E3-7B82-751E5E4E9AB1}"/>
                  </a:ext>
                </a:extLst>
              </p:cNvPr>
              <p:cNvSpPr txBox="1"/>
              <p:nvPr/>
            </p:nvSpPr>
            <p:spPr>
              <a:xfrm>
                <a:off x="9082408" y="1373805"/>
                <a:ext cx="121482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rgbClr val="208894"/>
                    </a:solidFill>
                    <a:latin typeface="Aptos" panose="020B0004020202020204" pitchFamily="34" charset="0"/>
                  </a:rPr>
                  <a:t>20</a:t>
                </a:r>
              </a:p>
              <a:p>
                <a:pPr algn="ctr"/>
                <a:r>
                  <a:rPr lang="en-IN" sz="1200" dirty="0">
                    <a:latin typeface="Aptos" panose="020B0004020202020204" pitchFamily="34" charset="0"/>
                  </a:rPr>
                  <a:t>Model Features</a:t>
                </a:r>
              </a:p>
            </p:txBody>
          </p:sp>
        </p:grp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1B377DE-CCEE-6D76-D9A4-2DF3472AA1F1}"/>
                </a:ext>
              </a:extLst>
            </p:cNvPr>
            <p:cNvSpPr/>
            <p:nvPr/>
          </p:nvSpPr>
          <p:spPr>
            <a:xfrm>
              <a:off x="3653607" y="2137031"/>
              <a:ext cx="5309639" cy="4261121"/>
            </a:xfrm>
            <a:prstGeom prst="roundRect">
              <a:avLst>
                <a:gd name="adj" fmla="val 3799"/>
              </a:avLst>
            </a:prstGeom>
            <a:solidFill>
              <a:srgbClr val="FDFDFD"/>
            </a:solidFill>
            <a:ln w="3175">
              <a:solidFill>
                <a:srgbClr val="8CA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B3C56273-F30A-C932-604E-EF01CFB916B6}"/>
                </a:ext>
              </a:extLst>
            </p:cNvPr>
            <p:cNvSpPr/>
            <p:nvPr/>
          </p:nvSpPr>
          <p:spPr>
            <a:xfrm>
              <a:off x="3653608" y="2116559"/>
              <a:ext cx="5309638" cy="314727"/>
            </a:xfrm>
            <a:prstGeom prst="round2SameRect">
              <a:avLst>
                <a:gd name="adj1" fmla="val 23648"/>
                <a:gd name="adj2" fmla="val 0"/>
              </a:avLst>
            </a:prstGeom>
            <a:solidFill>
              <a:srgbClr val="396667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latin typeface="Aptos" panose="020B0004020202020204" pitchFamily="34" charset="0"/>
                </a:rPr>
                <a:t>DATASET SNAPSHOT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5171D35A-2548-4B1E-1C96-4D0C46495052}"/>
                </a:ext>
              </a:extLst>
            </p:cNvPr>
            <p:cNvGrpSpPr/>
            <p:nvPr/>
          </p:nvGrpSpPr>
          <p:grpSpPr>
            <a:xfrm>
              <a:off x="350872" y="2116559"/>
              <a:ext cx="3083444" cy="4281593"/>
              <a:chOff x="350872" y="2116559"/>
              <a:chExt cx="3083444" cy="428159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BAE5580D-66CC-0074-4D44-167FFF8D5174}"/>
                  </a:ext>
                </a:extLst>
              </p:cNvPr>
              <p:cNvSpPr/>
              <p:nvPr/>
            </p:nvSpPr>
            <p:spPr>
              <a:xfrm>
                <a:off x="350874" y="2137031"/>
                <a:ext cx="3083442" cy="4261121"/>
              </a:xfrm>
              <a:prstGeom prst="roundRect">
                <a:avLst>
                  <a:gd name="adj" fmla="val 3799"/>
                </a:avLst>
              </a:prstGeom>
              <a:solidFill>
                <a:srgbClr val="F8FBFF"/>
              </a:solidFill>
              <a:ln w="3175">
                <a:solidFill>
                  <a:srgbClr val="8CA8B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Rectangle: Top Corners Rounded 19">
                <a:extLst>
                  <a:ext uri="{FF2B5EF4-FFF2-40B4-BE49-F238E27FC236}">
                    <a16:creationId xmlns:a16="http://schemas.microsoft.com/office/drawing/2014/main" id="{EAAA05E9-4306-98F4-4B31-C6AA96A91605}"/>
                  </a:ext>
                </a:extLst>
              </p:cNvPr>
              <p:cNvSpPr/>
              <p:nvPr/>
            </p:nvSpPr>
            <p:spPr>
              <a:xfrm>
                <a:off x="350874" y="2116559"/>
                <a:ext cx="3082037" cy="314727"/>
              </a:xfrm>
              <a:prstGeom prst="round2SameRect">
                <a:avLst>
                  <a:gd name="adj1" fmla="val 23648"/>
                  <a:gd name="adj2" fmla="val 0"/>
                </a:avLst>
              </a:prstGeom>
              <a:solidFill>
                <a:srgbClr val="18265D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dirty="0">
                    <a:latin typeface="Aptos" panose="020B0004020202020204" pitchFamily="34" charset="0"/>
                  </a:rPr>
                  <a:t>THE 27         20 FEATURE TRANSITION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95D25D-0919-BD7E-E508-50C8531853EC}"/>
                  </a:ext>
                </a:extLst>
              </p:cNvPr>
              <p:cNvSpPr txBox="1"/>
              <p:nvPr/>
            </p:nvSpPr>
            <p:spPr>
              <a:xfrm>
                <a:off x="350873" y="2524655"/>
                <a:ext cx="308203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latin typeface="Aptos" panose="020B0004020202020204" pitchFamily="34" charset="0"/>
                  </a:rPr>
                  <a:t>The raw survey contains 27 columns. Four target-source variables are removed to prevent leakage, along with three additional columns with limited modelling value or high missingness</a:t>
                </a: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A32B7EE-FEE0-DAEA-4677-1826922927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113" y="3631763"/>
                <a:ext cx="2920776" cy="0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17E7F8-CA8C-0FAE-53E5-DCBFE6FBA582}"/>
                  </a:ext>
                </a:extLst>
              </p:cNvPr>
              <p:cNvSpPr txBox="1"/>
              <p:nvPr/>
            </p:nvSpPr>
            <p:spPr>
              <a:xfrm>
                <a:off x="352276" y="3740623"/>
                <a:ext cx="30820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rgbClr val="208894"/>
                    </a:solidFill>
                    <a:latin typeface="Aptos" panose="020B0004020202020204" pitchFamily="34" charset="0"/>
                  </a:rPr>
                  <a:t>REMOVED TO PREVENT LEAKAGE (4)</a:t>
                </a:r>
              </a:p>
              <a:p>
                <a:endParaRPr lang="en-IN" sz="1200" b="1" dirty="0">
                  <a:solidFill>
                    <a:srgbClr val="208894"/>
                  </a:solidFill>
                  <a:latin typeface="Aptos" panose="020B0004020202020204" pitchFamily="34" charset="0"/>
                </a:endParaRP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IN" sz="1200" dirty="0" err="1">
                    <a:latin typeface="Aptos" panose="020B0004020202020204" pitchFamily="34" charset="0"/>
                  </a:rPr>
                  <a:t>work_interfere</a:t>
                </a:r>
                <a:endParaRPr lang="en-IN" sz="1200" dirty="0">
                  <a:latin typeface="Aptos" panose="020B0004020202020204" pitchFamily="34" charset="0"/>
                </a:endParaRP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IN" sz="1200" dirty="0" err="1">
                    <a:latin typeface="Aptos" panose="020B0004020202020204" pitchFamily="34" charset="0"/>
                  </a:rPr>
                  <a:t>family_history</a:t>
                </a:r>
                <a:endParaRPr lang="en-IN" sz="1200" dirty="0">
                  <a:latin typeface="Aptos" panose="020B0004020202020204" pitchFamily="34" charset="0"/>
                </a:endParaRP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IN" sz="1200" dirty="0">
                    <a:latin typeface="Aptos" panose="020B0004020202020204" pitchFamily="34" charset="0"/>
                  </a:rPr>
                  <a:t>treatment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IN" sz="1200" dirty="0" err="1">
                    <a:latin typeface="Aptos" panose="020B0004020202020204" pitchFamily="34" charset="0"/>
                  </a:rPr>
                  <a:t>obs_consequence</a:t>
                </a:r>
                <a:endParaRPr lang="en-IN" sz="1200" dirty="0">
                  <a:latin typeface="Aptos" panose="020B0004020202020204" pitchFamily="34" charset="0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22820EB-4E7E-A13C-D1B1-642FC1FEEF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9589" y="2286000"/>
                <a:ext cx="212652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1094CEF-BB24-4223-2492-DFA8FFB58EE3}"/>
                  </a:ext>
                </a:extLst>
              </p:cNvPr>
              <p:cNvSpPr txBox="1"/>
              <p:nvPr/>
            </p:nvSpPr>
            <p:spPr>
              <a:xfrm>
                <a:off x="352276" y="5159495"/>
                <a:ext cx="3082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rgbClr val="18265D"/>
                    </a:solidFill>
                    <a:latin typeface="Aptos" panose="020B0004020202020204" pitchFamily="34" charset="0"/>
                  </a:rPr>
                  <a:t>REMOVED FOR MODELING REASONS (3)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B6B6E12-2245-7C00-6054-90FA63F9FE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113" y="5026129"/>
                <a:ext cx="2920776" cy="0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0693A9-1221-7062-7286-E58701F0B75B}"/>
                  </a:ext>
                </a:extLst>
              </p:cNvPr>
              <p:cNvSpPr txBox="1"/>
              <p:nvPr/>
            </p:nvSpPr>
            <p:spPr>
              <a:xfrm>
                <a:off x="1523822" y="5655037"/>
                <a:ext cx="9755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IN" sz="1200" b="0" dirty="0">
                    <a:solidFill>
                      <a:schemeClr val="tx1"/>
                    </a:solidFill>
                  </a:rPr>
                  <a:t>gender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5C508B4-D74A-06B4-308D-991BC5EADEA0}"/>
                  </a:ext>
                </a:extLst>
              </p:cNvPr>
              <p:cNvSpPr txBox="1"/>
              <p:nvPr/>
            </p:nvSpPr>
            <p:spPr>
              <a:xfrm>
                <a:off x="354849" y="5619943"/>
                <a:ext cx="86922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IN" sz="1200" b="0" dirty="0">
                    <a:solidFill>
                      <a:schemeClr val="tx1"/>
                    </a:solidFill>
                  </a:rPr>
                  <a:t>state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C918CC4-FE9E-C5FA-FEED-DBCAFE230874}"/>
                  </a:ext>
                </a:extLst>
              </p:cNvPr>
              <p:cNvSpPr txBox="1"/>
              <p:nvPr/>
            </p:nvSpPr>
            <p:spPr>
              <a:xfrm>
                <a:off x="1517795" y="5385431"/>
                <a:ext cx="117755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IN" sz="1200" b="0" dirty="0">
                    <a:solidFill>
                      <a:schemeClr val="tx1"/>
                    </a:solidFill>
                  </a:rPr>
                  <a:t>comments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B66F317-7E0E-35FB-9B59-92F71A772DB5}"/>
                  </a:ext>
                </a:extLst>
              </p:cNvPr>
              <p:cNvSpPr txBox="1"/>
              <p:nvPr/>
            </p:nvSpPr>
            <p:spPr>
              <a:xfrm>
                <a:off x="350872" y="5380456"/>
                <a:ext cx="11669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IN" sz="1200" b="0" dirty="0">
                    <a:solidFill>
                      <a:schemeClr val="tx1"/>
                    </a:solidFill>
                  </a:rPr>
                  <a:t>timestamp</a:t>
                </a:r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E617BE61-84FE-F40B-D638-7D29C6B71FD1}"/>
                  </a:ext>
                </a:extLst>
              </p:cNvPr>
              <p:cNvSpPr/>
              <p:nvPr/>
            </p:nvSpPr>
            <p:spPr>
              <a:xfrm>
                <a:off x="417847" y="6000441"/>
                <a:ext cx="2963308" cy="348808"/>
              </a:xfrm>
              <a:prstGeom prst="roundRect">
                <a:avLst/>
              </a:prstGeom>
              <a:solidFill>
                <a:srgbClr val="EFF5F4"/>
              </a:solidFill>
              <a:ln w="3175">
                <a:solidFill>
                  <a:srgbClr val="8CA8B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000" b="1" dirty="0">
                    <a:solidFill>
                      <a:srgbClr val="3C6871"/>
                    </a:solidFill>
                    <a:latin typeface="Aptos" panose="020B0004020202020204" pitchFamily="34" charset="0"/>
                  </a:rPr>
                  <a:t>Result: </a:t>
                </a:r>
                <a:r>
                  <a:rPr lang="en-IN" sz="1000" dirty="0">
                    <a:solidFill>
                      <a:srgbClr val="3C6871"/>
                    </a:solidFill>
                    <a:latin typeface="Aptos" panose="020B0004020202020204" pitchFamily="34" charset="0"/>
                  </a:rPr>
                  <a:t>20 leakage-safe predictors used for modelling</a:t>
                </a:r>
              </a:p>
            </p:txBody>
          </p:sp>
        </p:grp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588C389C-647C-F31E-C08F-77E8CAFDAB82}"/>
                </a:ext>
              </a:extLst>
            </p:cNvPr>
            <p:cNvSpPr/>
            <p:nvPr/>
          </p:nvSpPr>
          <p:spPr>
            <a:xfrm>
              <a:off x="9209385" y="2116559"/>
              <a:ext cx="2627766" cy="4261121"/>
            </a:xfrm>
            <a:prstGeom prst="roundRect">
              <a:avLst>
                <a:gd name="adj" fmla="val 3799"/>
              </a:avLst>
            </a:prstGeom>
            <a:solidFill>
              <a:srgbClr val="FDFDFD"/>
            </a:solidFill>
            <a:ln w="3175">
              <a:solidFill>
                <a:srgbClr val="8CA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6BF3319-C600-0F54-3663-3ED624DC1E78}"/>
                </a:ext>
              </a:extLst>
            </p:cNvPr>
            <p:cNvSpPr txBox="1"/>
            <p:nvPr/>
          </p:nvSpPr>
          <p:spPr>
            <a:xfrm>
              <a:off x="9794703" y="2374983"/>
              <a:ext cx="14571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>
                  <a:solidFill>
                    <a:srgbClr val="18265D"/>
                  </a:solidFill>
                  <a:latin typeface="Aptos" panose="020B0004020202020204" pitchFamily="34" charset="0"/>
                </a:rPr>
                <a:t>NOTE ON STATE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480DF6D-FBC5-856E-EA9C-B9FD39631B44}"/>
                </a:ext>
              </a:extLst>
            </p:cNvPr>
            <p:cNvCxnSpPr>
              <a:cxnSpLocks/>
            </p:cNvCxnSpPr>
            <p:nvPr/>
          </p:nvCxnSpPr>
          <p:spPr>
            <a:xfrm>
              <a:off x="9657777" y="2829054"/>
              <a:ext cx="1730982" cy="0"/>
            </a:xfrm>
            <a:prstGeom prst="line">
              <a:avLst/>
            </a:prstGeom>
            <a:ln>
              <a:solidFill>
                <a:srgbClr val="1826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F7BA2E0-EA09-6423-19E2-16A9CC3E4C07}"/>
                </a:ext>
              </a:extLst>
            </p:cNvPr>
            <p:cNvSpPr txBox="1"/>
            <p:nvPr/>
          </p:nvSpPr>
          <p:spPr>
            <a:xfrm>
              <a:off x="9259170" y="3073054"/>
              <a:ext cx="25281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/>
                <a:t>The “state” column is almost entirely US-specific among non-missing entries, but not exclusively: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E93DF94-F8D6-64DB-0857-375FDD4C8061}"/>
                </a:ext>
              </a:extLst>
            </p:cNvPr>
            <p:cNvCxnSpPr>
              <a:cxnSpLocks/>
            </p:cNvCxnSpPr>
            <p:nvPr/>
          </p:nvCxnSpPr>
          <p:spPr>
            <a:xfrm>
              <a:off x="9574592" y="3980915"/>
              <a:ext cx="1897353" cy="0"/>
            </a:xfrm>
            <a:prstGeom prst="line">
              <a:avLst/>
            </a:prstGeom>
            <a:ln>
              <a:solidFill>
                <a:srgbClr val="18265D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7DF9F35-D2A9-4E19-02E7-2E6A977CE330}"/>
                </a:ext>
              </a:extLst>
            </p:cNvPr>
            <p:cNvSpPr txBox="1"/>
            <p:nvPr/>
          </p:nvSpPr>
          <p:spPr>
            <a:xfrm>
              <a:off x="10033390" y="4243867"/>
              <a:ext cx="97975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18265D"/>
                  </a:solidFill>
                  <a:latin typeface="Aptos" panose="020B0004020202020204" pitchFamily="34" charset="0"/>
                </a:rPr>
                <a:t>740</a:t>
              </a:r>
            </a:p>
            <a:p>
              <a:pPr algn="ctr"/>
              <a:r>
                <a:rPr lang="en-IN" sz="1400" dirty="0">
                  <a:latin typeface="Aptos" panose="020B0004020202020204" pitchFamily="34" charset="0"/>
                </a:rPr>
                <a:t>US entries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216D919-1AF0-6831-829A-45CFD9440363}"/>
                </a:ext>
              </a:extLst>
            </p:cNvPr>
            <p:cNvSpPr txBox="1"/>
            <p:nvPr/>
          </p:nvSpPr>
          <p:spPr>
            <a:xfrm>
              <a:off x="9840228" y="5423442"/>
              <a:ext cx="13660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18265D"/>
                  </a:solidFill>
                  <a:latin typeface="Aptos" panose="020B0004020202020204" pitchFamily="34" charset="0"/>
                </a:rPr>
                <a:t>4</a:t>
              </a:r>
            </a:p>
            <a:p>
              <a:pPr algn="ctr"/>
              <a:r>
                <a:rPr lang="en-IN" sz="1400" dirty="0">
                  <a:latin typeface="Aptos" panose="020B0004020202020204" pitchFamily="34" charset="0"/>
                </a:rPr>
                <a:t>Non-US entries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053E340-B5A2-A51F-C80D-AC8B53825075}"/>
                </a:ext>
              </a:extLst>
            </p:cNvPr>
            <p:cNvCxnSpPr>
              <a:cxnSpLocks/>
            </p:cNvCxnSpPr>
            <p:nvPr/>
          </p:nvCxnSpPr>
          <p:spPr>
            <a:xfrm>
              <a:off x="9574592" y="5132769"/>
              <a:ext cx="1897353" cy="0"/>
            </a:xfrm>
            <a:prstGeom prst="line">
              <a:avLst/>
            </a:prstGeom>
            <a:ln>
              <a:solidFill>
                <a:srgbClr val="18265D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CF15A6E-302A-9E76-6DAB-828E6062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92" y="91440"/>
            <a:ext cx="11243617" cy="347472"/>
          </a:xfrm>
        </p:spPr>
        <p:txBody>
          <a:bodyPr>
            <a:noAutofit/>
          </a:bodyPr>
          <a:lstStyle/>
          <a:p>
            <a:r>
              <a:rPr lang="en-IN" sz="2400" b="1" spc="300" dirty="0"/>
              <a:t>Leakage-safe dataset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E60F0-81A2-6C5F-5EC4-92BC65581D96}"/>
              </a:ext>
            </a:extLst>
          </p:cNvPr>
          <p:cNvSpPr txBox="1"/>
          <p:nvPr/>
        </p:nvSpPr>
        <p:spPr>
          <a:xfrm flipH="1">
            <a:off x="516724" y="646981"/>
            <a:ext cx="7074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solidFill>
                  <a:srgbClr val="18265D"/>
                </a:solidFill>
                <a:latin typeface="Aptos" panose="020B0004020202020204" pitchFamily="34" charset="0"/>
              </a:rPr>
              <a:t>From 27 raw columns to 20 independent, leakage-safe model features.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891050-0456-D321-04F2-ADE49B1A6327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  <a:solidFill>
            <a:srgbClr val="386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1EDA5A3E-0160-C800-BCAE-B83E7752C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804164"/>
              </p:ext>
            </p:extLst>
          </p:nvPr>
        </p:nvGraphicFramePr>
        <p:xfrm>
          <a:off x="3923835" y="2665443"/>
          <a:ext cx="4795269" cy="3515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616">
                  <a:extLst>
                    <a:ext uri="{9D8B030D-6E8A-4147-A177-3AD203B41FA5}">
                      <a16:colId xmlns:a16="http://schemas.microsoft.com/office/drawing/2014/main" val="927745456"/>
                    </a:ext>
                  </a:extLst>
                </a:gridCol>
                <a:gridCol w="3858653">
                  <a:extLst>
                    <a:ext uri="{9D8B030D-6E8A-4147-A177-3AD203B41FA5}">
                      <a16:colId xmlns:a16="http://schemas.microsoft.com/office/drawing/2014/main" val="2755573958"/>
                    </a:ext>
                  </a:extLst>
                </a:gridCol>
              </a:tblGrid>
              <a:tr h="4012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dirty="0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RAW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27 columns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220386"/>
                  </a:ext>
                </a:extLst>
              </a:tr>
              <a:tr h="4012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dirty="0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FEATURES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20 leakage-safe predictors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40950"/>
                  </a:ext>
                </a:extLst>
              </a:tr>
              <a:tr h="4012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dirty="0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NUMERIC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Age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05659"/>
                  </a:ext>
                </a:extLst>
              </a:tr>
              <a:tr h="4012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dirty="0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CAT.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Workplace policies, attitudes and demographics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724980"/>
                  </a:ext>
                </a:extLst>
              </a:tr>
              <a:tr h="668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dirty="0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MISSING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comments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:</a:t>
                      </a: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 87.0%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 | </a:t>
                      </a: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state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:</a:t>
                      </a: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 40.9%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 | </a:t>
                      </a: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work_interfere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: </a:t>
                      </a: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21.0%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082496"/>
                  </a:ext>
                </a:extLst>
              </a:tr>
              <a:tr h="4012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dirty="0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AGE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Valid observed range retained: 18–72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169666"/>
                  </a:ext>
                </a:extLst>
              </a:tr>
              <a:tr h="4386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dirty="0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TARGET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Low vs High engineered survey risk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070549"/>
                  </a:ext>
                </a:extLst>
              </a:tr>
              <a:tr h="4012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dirty="0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TASK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Binary classification with interpretability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422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44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A97FF-EEEA-7A3F-A3AC-B268A569C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AFF2AB4F-DD68-EA77-CD70-8D9279B1FC34}"/>
              </a:ext>
            </a:extLst>
          </p:cNvPr>
          <p:cNvGrpSpPr/>
          <p:nvPr/>
        </p:nvGrpSpPr>
        <p:grpSpPr>
          <a:xfrm>
            <a:off x="516724" y="1041359"/>
            <a:ext cx="11158552" cy="5424973"/>
            <a:chOff x="516724" y="1041359"/>
            <a:chExt cx="11158552" cy="542497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038AEB0-EAE6-DDA0-D373-B02275688713}"/>
                </a:ext>
              </a:extLst>
            </p:cNvPr>
            <p:cNvSpPr/>
            <p:nvPr/>
          </p:nvSpPr>
          <p:spPr>
            <a:xfrm>
              <a:off x="516724" y="1061832"/>
              <a:ext cx="4518838" cy="2314003"/>
            </a:xfrm>
            <a:prstGeom prst="roundRect">
              <a:avLst>
                <a:gd name="adj" fmla="val 3799"/>
              </a:avLst>
            </a:prstGeom>
            <a:solidFill>
              <a:srgbClr val="F8FBFF"/>
            </a:solidFill>
            <a:ln w="3175">
              <a:solidFill>
                <a:srgbClr val="8CA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B1707F8B-7F18-9BEA-E0BB-84FDADC97477}"/>
                </a:ext>
              </a:extLst>
            </p:cNvPr>
            <p:cNvSpPr/>
            <p:nvPr/>
          </p:nvSpPr>
          <p:spPr>
            <a:xfrm>
              <a:off x="516724" y="1041359"/>
              <a:ext cx="4518838" cy="314727"/>
            </a:xfrm>
            <a:prstGeom prst="round2SameRect">
              <a:avLst>
                <a:gd name="adj1" fmla="val 23648"/>
                <a:gd name="adj2" fmla="val 0"/>
              </a:avLst>
            </a:prstGeom>
            <a:solidFill>
              <a:srgbClr val="18265D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latin typeface="Aptos" panose="020B0004020202020204" pitchFamily="34" charset="0"/>
                </a:rPr>
                <a:t>1. TARGET ENGINEERING LOGIC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527A23B-28CF-4F44-6755-09579178B990}"/>
                </a:ext>
              </a:extLst>
            </p:cNvPr>
            <p:cNvSpPr/>
            <p:nvPr/>
          </p:nvSpPr>
          <p:spPr>
            <a:xfrm>
              <a:off x="639964" y="1465075"/>
              <a:ext cx="4272359" cy="565518"/>
            </a:xfrm>
            <a:prstGeom prst="roundRect">
              <a:avLst/>
            </a:prstGeom>
            <a:solidFill>
              <a:srgbClr val="EFF5F4"/>
            </a:solidFill>
            <a:ln w="3175">
              <a:solidFill>
                <a:srgbClr val="8CA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err="1">
                  <a:solidFill>
                    <a:srgbClr val="3C6871"/>
                  </a:solidFill>
                  <a:latin typeface="Aptos" panose="020B0004020202020204" pitchFamily="34" charset="0"/>
                </a:rPr>
                <a:t>Risk_score</a:t>
              </a:r>
              <a:r>
                <a:rPr lang="en-IN" sz="1400" b="1" dirty="0">
                  <a:solidFill>
                    <a:srgbClr val="3C6871"/>
                  </a:solidFill>
                  <a:latin typeface="Aptos" panose="020B0004020202020204" pitchFamily="34" charset="0"/>
                </a:rPr>
                <a:t> = 2 x </a:t>
              </a:r>
              <a:r>
                <a:rPr lang="en-IN" sz="1400" b="1" dirty="0" err="1">
                  <a:solidFill>
                    <a:srgbClr val="3C6871"/>
                  </a:solidFill>
                  <a:latin typeface="Aptos" panose="020B0004020202020204" pitchFamily="34" charset="0"/>
                </a:rPr>
                <a:t>work_interfere</a:t>
              </a:r>
              <a:r>
                <a:rPr lang="en-IN" sz="1400" b="1" dirty="0">
                  <a:solidFill>
                    <a:srgbClr val="3C6871"/>
                  </a:solidFill>
                  <a:latin typeface="Aptos" panose="020B0004020202020204" pitchFamily="34" charset="0"/>
                </a:rPr>
                <a:t> + </a:t>
              </a:r>
              <a:r>
                <a:rPr lang="en-IN" sz="1400" b="1" dirty="0" err="1">
                  <a:solidFill>
                    <a:srgbClr val="3C6871"/>
                  </a:solidFill>
                  <a:latin typeface="Aptos" panose="020B0004020202020204" pitchFamily="34" charset="0"/>
                </a:rPr>
                <a:t>family_history</a:t>
              </a:r>
              <a:r>
                <a:rPr lang="en-IN" sz="1400" b="1" dirty="0">
                  <a:solidFill>
                    <a:srgbClr val="3C6871"/>
                  </a:solidFill>
                  <a:latin typeface="Aptos" panose="020B0004020202020204" pitchFamily="34" charset="0"/>
                </a:rPr>
                <a:t> + treatment + </a:t>
              </a:r>
              <a:r>
                <a:rPr lang="en-IN" sz="1400" b="1" dirty="0" err="1">
                  <a:solidFill>
                    <a:srgbClr val="3C6871"/>
                  </a:solidFill>
                  <a:latin typeface="Aptos" panose="020B0004020202020204" pitchFamily="34" charset="0"/>
                </a:rPr>
                <a:t>obs_consequence</a:t>
              </a:r>
              <a:endParaRPr lang="en-IN" sz="1400" dirty="0">
                <a:solidFill>
                  <a:srgbClr val="3C6871"/>
                </a:solidFill>
                <a:latin typeface="Aptos" panose="020B0004020202020204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E1AE3ED-FB87-4026-F223-5B47313E4FBC}"/>
                </a:ext>
              </a:extLst>
            </p:cNvPr>
            <p:cNvGrpSpPr/>
            <p:nvPr/>
          </p:nvGrpSpPr>
          <p:grpSpPr>
            <a:xfrm>
              <a:off x="5158802" y="1041359"/>
              <a:ext cx="6516474" cy="3524257"/>
              <a:chOff x="516724" y="1094524"/>
              <a:chExt cx="4518838" cy="3524257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8874750-F245-72E8-8A23-5CA74F6703B1}"/>
                  </a:ext>
                </a:extLst>
              </p:cNvPr>
              <p:cNvSpPr/>
              <p:nvPr/>
            </p:nvSpPr>
            <p:spPr>
              <a:xfrm>
                <a:off x="516724" y="1114997"/>
                <a:ext cx="4518838" cy="3503784"/>
              </a:xfrm>
              <a:prstGeom prst="roundRect">
                <a:avLst>
                  <a:gd name="adj" fmla="val 3799"/>
                </a:avLst>
              </a:prstGeom>
              <a:solidFill>
                <a:srgbClr val="FEFEFE"/>
              </a:solidFill>
              <a:ln w="3175">
                <a:solidFill>
                  <a:srgbClr val="8CA8B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4" name="Rectangle: Top Corners Rounded 23">
                <a:extLst>
                  <a:ext uri="{FF2B5EF4-FFF2-40B4-BE49-F238E27FC236}">
                    <a16:creationId xmlns:a16="http://schemas.microsoft.com/office/drawing/2014/main" id="{0F40D388-C458-582C-134C-8D87F4D07364}"/>
                  </a:ext>
                </a:extLst>
              </p:cNvPr>
              <p:cNvSpPr/>
              <p:nvPr/>
            </p:nvSpPr>
            <p:spPr>
              <a:xfrm>
                <a:off x="516724" y="1094524"/>
                <a:ext cx="4518838" cy="314727"/>
              </a:xfrm>
              <a:prstGeom prst="round2SameRect">
                <a:avLst>
                  <a:gd name="adj1" fmla="val 23648"/>
                  <a:gd name="adj2" fmla="val 0"/>
                </a:avLst>
              </a:prstGeom>
              <a:solidFill>
                <a:srgbClr val="18265D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b="1" dirty="0">
                    <a:latin typeface="Aptos" panose="020B0004020202020204" pitchFamily="34" charset="0"/>
                  </a:rPr>
                  <a:t>3. ENGINEERED RISK LEVEL DISTRIBUTION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A8B9C87-860E-527F-5A6F-D22721461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0562" y="1457662"/>
              <a:ext cx="5532950" cy="298504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EB5434-80AE-0078-E9B9-B42B7565BDE6}"/>
                </a:ext>
              </a:extLst>
            </p:cNvPr>
            <p:cNvSpPr txBox="1"/>
            <p:nvPr/>
          </p:nvSpPr>
          <p:spPr>
            <a:xfrm>
              <a:off x="670953" y="2151232"/>
              <a:ext cx="424137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IN" sz="1400" dirty="0">
                  <a:latin typeface="Aptos" panose="020B0004020202020204" pitchFamily="34" charset="0"/>
                </a:rPr>
                <a:t>Each variable is coded as 0 = No, 1 = Yes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IN" sz="1400" dirty="0">
                  <a:latin typeface="Aptos" panose="020B0004020202020204" pitchFamily="34" charset="0"/>
                </a:rPr>
                <a:t>A higher score indicates higher underlying risk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IN" sz="1400" dirty="0">
                  <a:latin typeface="Aptos" panose="020B0004020202020204" pitchFamily="34" charset="0"/>
                </a:rPr>
                <a:t>Median split of the </a:t>
              </a:r>
              <a:r>
                <a:rPr lang="en-IN" sz="1400" dirty="0" err="1">
                  <a:latin typeface="Aptos" panose="020B0004020202020204" pitchFamily="34" charset="0"/>
                </a:rPr>
                <a:t>risk_score</a:t>
              </a:r>
              <a:r>
                <a:rPr lang="en-IN" sz="1400" dirty="0">
                  <a:latin typeface="Aptos" panose="020B0004020202020204" pitchFamily="34" charset="0"/>
                </a:rPr>
                <a:t> is used to create the binary target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IN" sz="1400" dirty="0">
                  <a:latin typeface="Aptos" panose="020B0004020202020204" pitchFamily="34" charset="0"/>
                </a:rPr>
                <a:t>All four target-source columns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FAF1A30-CEF0-2296-3814-744DEA2B2A0C}"/>
                </a:ext>
              </a:extLst>
            </p:cNvPr>
            <p:cNvSpPr/>
            <p:nvPr/>
          </p:nvSpPr>
          <p:spPr>
            <a:xfrm>
              <a:off x="516724" y="3531954"/>
              <a:ext cx="4518838" cy="2314003"/>
            </a:xfrm>
            <a:prstGeom prst="roundRect">
              <a:avLst>
                <a:gd name="adj" fmla="val 3799"/>
              </a:avLst>
            </a:prstGeom>
            <a:solidFill>
              <a:srgbClr val="F8FBFF"/>
            </a:solidFill>
            <a:ln w="3175">
              <a:solidFill>
                <a:srgbClr val="8CA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E55B463D-7004-079C-CD70-A17BD3DC7A3F}"/>
                </a:ext>
              </a:extLst>
            </p:cNvPr>
            <p:cNvSpPr/>
            <p:nvPr/>
          </p:nvSpPr>
          <p:spPr>
            <a:xfrm>
              <a:off x="516724" y="3511481"/>
              <a:ext cx="4518838" cy="314727"/>
            </a:xfrm>
            <a:prstGeom prst="round2SameRect">
              <a:avLst>
                <a:gd name="adj1" fmla="val 23648"/>
                <a:gd name="adj2" fmla="val 0"/>
              </a:avLst>
            </a:prstGeom>
            <a:solidFill>
              <a:srgbClr val="18265D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latin typeface="Aptos" panose="020B0004020202020204" pitchFamily="34" charset="0"/>
                </a:rPr>
                <a:t>2. THE FOUR CONFIDENTIAL VARIABLES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61206B5-580C-A7E7-D257-9979656497C3}"/>
                </a:ext>
              </a:extLst>
            </p:cNvPr>
            <p:cNvSpPr/>
            <p:nvPr/>
          </p:nvSpPr>
          <p:spPr>
            <a:xfrm>
              <a:off x="516724" y="5964712"/>
              <a:ext cx="11158552" cy="501620"/>
            </a:xfrm>
            <a:prstGeom prst="roundRect">
              <a:avLst/>
            </a:prstGeom>
            <a:solidFill>
              <a:srgbClr val="F8FBFF"/>
            </a:solidFill>
            <a:ln w="3175">
              <a:solidFill>
                <a:srgbClr val="8CA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F2937BD-A055-687C-A0BA-55D109AA865E}"/>
                </a:ext>
              </a:extLst>
            </p:cNvPr>
            <p:cNvSpPr/>
            <p:nvPr/>
          </p:nvSpPr>
          <p:spPr>
            <a:xfrm>
              <a:off x="5158802" y="4715608"/>
              <a:ext cx="6516473" cy="1126195"/>
            </a:xfrm>
            <a:prstGeom prst="roundRect">
              <a:avLst>
                <a:gd name="adj" fmla="val 3799"/>
              </a:avLst>
            </a:prstGeom>
            <a:solidFill>
              <a:srgbClr val="F8FBFF"/>
            </a:solidFill>
            <a:ln w="3175">
              <a:solidFill>
                <a:srgbClr val="8CA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9A20D688-2A44-32DD-64F3-E9C17994B063}"/>
                </a:ext>
              </a:extLst>
            </p:cNvPr>
            <p:cNvSpPr/>
            <p:nvPr/>
          </p:nvSpPr>
          <p:spPr>
            <a:xfrm>
              <a:off x="5158802" y="4695135"/>
              <a:ext cx="6516473" cy="314727"/>
            </a:xfrm>
            <a:prstGeom prst="round2SameRect">
              <a:avLst>
                <a:gd name="adj1" fmla="val 23648"/>
                <a:gd name="adj2" fmla="val 0"/>
              </a:avLst>
            </a:prstGeom>
            <a:solidFill>
              <a:srgbClr val="18265D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latin typeface="Aptos" panose="020B0004020202020204" pitchFamily="34" charset="0"/>
                </a:rPr>
                <a:t>4. TARGET DEFINITION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A10478-7F68-0D02-9E75-2AFFB88A7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92" y="91440"/>
            <a:ext cx="11243617" cy="347472"/>
          </a:xfrm>
        </p:spPr>
        <p:txBody>
          <a:bodyPr>
            <a:noAutofit/>
          </a:bodyPr>
          <a:lstStyle/>
          <a:p>
            <a:r>
              <a:rPr lang="en-IN" sz="2400" b="1" spc="300" dirty="0"/>
              <a:t>Engineering the risk target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DDA2CD-25BB-DE17-D848-5C45D2C4B45E}"/>
              </a:ext>
            </a:extLst>
          </p:cNvPr>
          <p:cNvSpPr txBox="1"/>
          <p:nvPr/>
        </p:nvSpPr>
        <p:spPr>
          <a:xfrm flipH="1">
            <a:off x="516724" y="646981"/>
            <a:ext cx="7074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solidFill>
                  <a:srgbClr val="18265D"/>
                </a:solidFill>
                <a:latin typeface="Aptos" panose="020B0004020202020204" pitchFamily="34" charset="0"/>
              </a:rPr>
              <a:t>A high-risk label is engineered from four confidential survey variables.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CB25517-BA18-56C6-7BA8-71FBFECFC68B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  <a:solidFill>
            <a:srgbClr val="386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DF727A7-C78B-F2CC-5773-498062BEF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994915"/>
              </p:ext>
            </p:extLst>
          </p:nvPr>
        </p:nvGraphicFramePr>
        <p:xfrm>
          <a:off x="557077" y="3914719"/>
          <a:ext cx="4478485" cy="1822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267">
                  <a:extLst>
                    <a:ext uri="{9D8B030D-6E8A-4147-A177-3AD203B41FA5}">
                      <a16:colId xmlns:a16="http://schemas.microsoft.com/office/drawing/2014/main" val="927745456"/>
                    </a:ext>
                  </a:extLst>
                </a:gridCol>
                <a:gridCol w="3008218">
                  <a:extLst>
                    <a:ext uri="{9D8B030D-6E8A-4147-A177-3AD203B41FA5}">
                      <a16:colId xmlns:a16="http://schemas.microsoft.com/office/drawing/2014/main" val="2755573958"/>
                    </a:ext>
                  </a:extLst>
                </a:gridCol>
              </a:tblGrid>
              <a:tr h="2963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solidFill>
                            <a:srgbClr val="396667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Variable</a:t>
                      </a:r>
                      <a:endParaRPr sz="1200" b="1" dirty="0">
                        <a:solidFill>
                          <a:srgbClr val="396667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rgbClr val="396667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What it Captures</a:t>
                      </a:r>
                      <a:endParaRPr sz="1200" b="1" kern="1200" dirty="0">
                        <a:solidFill>
                          <a:srgbClr val="396667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0386"/>
                  </a:ext>
                </a:extLst>
              </a:tr>
              <a:tr h="4097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 err="1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work_interfere</a:t>
                      </a:r>
                      <a:endParaRPr lang="en-IN" sz="1200" b="1" dirty="0">
                        <a:solidFill>
                          <a:srgbClr val="18265D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Interference with work</a:t>
                      </a:r>
                      <a:endParaRPr sz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40950"/>
                  </a:ext>
                </a:extLst>
              </a:tr>
              <a:tr h="4097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 err="1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family_history</a:t>
                      </a:r>
                      <a:endParaRPr lang="en-IN" sz="1200" b="1" kern="1200" dirty="0">
                        <a:solidFill>
                          <a:srgbClr val="18265D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Family history of mental health</a:t>
                      </a:r>
                      <a:endParaRPr sz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05659"/>
                  </a:ext>
                </a:extLst>
              </a:tr>
              <a:tr h="2963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treatment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Currently in or seeking treatment</a:t>
                      </a:r>
                      <a:endParaRPr sz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724980"/>
                  </a:ext>
                </a:extLst>
              </a:tr>
              <a:tr h="4097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 err="1">
                          <a:solidFill>
                            <a:srgbClr val="18265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obs_consequence</a:t>
                      </a:r>
                      <a:endParaRPr lang="en-IN" sz="1200" b="1" kern="1200" dirty="0">
                        <a:solidFill>
                          <a:srgbClr val="18265D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Observed consequence of mental health</a:t>
                      </a:r>
                      <a:endParaRPr sz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082496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E71DAAE-9562-2967-0B0A-22132D609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99537"/>
              </p:ext>
            </p:extLst>
          </p:nvPr>
        </p:nvGraphicFramePr>
        <p:xfrm>
          <a:off x="516724" y="5995436"/>
          <a:ext cx="11158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486">
                  <a:extLst>
                    <a:ext uri="{9D8B030D-6E8A-4147-A177-3AD203B41FA5}">
                      <a16:colId xmlns:a16="http://schemas.microsoft.com/office/drawing/2014/main" val="3885188045"/>
                    </a:ext>
                  </a:extLst>
                </a:gridCol>
                <a:gridCol w="10012066">
                  <a:extLst>
                    <a:ext uri="{9D8B030D-6E8A-4147-A177-3AD203B41FA5}">
                      <a16:colId xmlns:a16="http://schemas.microsoft.com/office/drawing/2014/main" val="1733384526"/>
                    </a:ext>
                  </a:extLst>
                </a:gridCol>
              </a:tblGrid>
              <a:tr h="40979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rgbClr val="396667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PURPOSE: </a:t>
                      </a:r>
                      <a:endParaRPr lang="en-IN" sz="1200" b="1" dirty="0">
                        <a:solidFill>
                          <a:srgbClr val="18265D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</a:rPr>
                        <a:t>The </a:t>
                      </a:r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engineered target </a:t>
                      </a:r>
                      <a:r>
                        <a:rPr lang="en-IN" sz="1200" b="0" dirty="0">
                          <a:solidFill>
                            <a:schemeClr val="tx1"/>
                          </a:solidFill>
                        </a:rPr>
                        <a:t>enables the identification of employees at higher risk for mental health challenges to support human review and awareness, not clinical diagnosis</a:t>
                      </a:r>
                      <a:endParaRPr sz="12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373068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148E18EC-8E85-CD9C-76C5-078CE0AA2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283877"/>
              </p:ext>
            </p:extLst>
          </p:nvPr>
        </p:nvGraphicFramePr>
        <p:xfrm>
          <a:off x="5158800" y="5035744"/>
          <a:ext cx="6516473" cy="77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922">
                  <a:extLst>
                    <a:ext uri="{9D8B030D-6E8A-4147-A177-3AD203B41FA5}">
                      <a16:colId xmlns:a16="http://schemas.microsoft.com/office/drawing/2014/main" val="4014124145"/>
                    </a:ext>
                  </a:extLst>
                </a:gridCol>
                <a:gridCol w="5406551">
                  <a:extLst>
                    <a:ext uri="{9D8B030D-6E8A-4147-A177-3AD203B41FA5}">
                      <a16:colId xmlns:a16="http://schemas.microsoft.com/office/drawing/2014/main" val="4059397736"/>
                    </a:ext>
                  </a:extLst>
                </a:gridCol>
              </a:tblGrid>
              <a:tr h="313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rgbClr val="E6A98F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High-Risk (1)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Respondents with a </a:t>
                      </a:r>
                      <a:r>
                        <a:rPr lang="en-IN" sz="1200" b="0" dirty="0" err="1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risk_score</a:t>
                      </a: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 greater than or equal to the medians (derived from the four variables).</a:t>
                      </a:r>
                      <a:endParaRPr sz="12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834301"/>
                  </a:ext>
                </a:extLst>
              </a:tr>
              <a:tr h="313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rgbClr val="9FAFDD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Low-Risk (0)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Respondents with a </a:t>
                      </a:r>
                      <a:r>
                        <a:rPr lang="en-IN" sz="1200" b="0" dirty="0" err="1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risk_score</a:t>
                      </a: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j-lt"/>
                          <a:cs typeface="+mj-lt"/>
                        </a:rPr>
                        <a:t> less than the median.</a:t>
                      </a:r>
                      <a:endParaRPr sz="1200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j-lt"/>
                        <a:cs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376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13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EDB1-698A-E612-A0A4-806A8022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1BA6-C9F5-5749-38EF-144E3CA1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92" y="91440"/>
            <a:ext cx="11243617" cy="347472"/>
          </a:xfrm>
        </p:spPr>
        <p:txBody>
          <a:bodyPr>
            <a:noAutofit/>
          </a:bodyPr>
          <a:lstStyle/>
          <a:p>
            <a:r>
              <a:rPr lang="en-IN" sz="2400" b="1" spc="300" dirty="0"/>
              <a:t>Initial cleaning, EDA and Leakage-safe pre-processing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FC73D68-38B1-4EEE-D149-F3CA58FE65FD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  <a:solidFill>
            <a:srgbClr val="386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08BE68-79E4-C26A-117F-39CE657C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88" y="1359059"/>
            <a:ext cx="6624510" cy="4416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0F929D-1351-E558-DB2A-164059964D91}"/>
              </a:ext>
            </a:extLst>
          </p:cNvPr>
          <p:cNvSpPr txBox="1"/>
          <p:nvPr/>
        </p:nvSpPr>
        <p:spPr>
          <a:xfrm>
            <a:off x="7364602" y="839981"/>
            <a:ext cx="435320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Aptos" panose="020B0004020202020204" pitchFamily="34" charset="0"/>
              </a:rPr>
              <a:t>Age values outside 18-100 are converted to missing; the observed valid range is 18-72.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400" dirty="0"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Aptos" panose="020B0004020202020204" pitchFamily="34" charset="0"/>
              </a:rPr>
              <a:t>Gender had 40+ variants which was cleaned to 3.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400" dirty="0"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Aptos" panose="020B0004020202020204" pitchFamily="34" charset="0"/>
              </a:rPr>
              <a:t>After the split, age is median-imputed and standardized.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400" dirty="0"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Aptos" panose="020B0004020202020204" pitchFamily="34" charset="0"/>
              </a:rPr>
              <a:t>Categorical variables are mode-imputed and one-hot encoded.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400" dirty="0"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Aptos" panose="020B0004020202020204" pitchFamily="34" charset="0"/>
              </a:rPr>
              <a:t>OneHotEncoder</a:t>
            </a:r>
            <a:r>
              <a:rPr lang="en-US" sz="1400" dirty="0">
                <a:latin typeface="Aptos" panose="020B0004020202020204" pitchFamily="34" charset="0"/>
              </a:rPr>
              <a:t>(</a:t>
            </a:r>
            <a:r>
              <a:rPr lang="en-US" sz="1400" dirty="0" err="1">
                <a:latin typeface="Aptos" panose="020B0004020202020204" pitchFamily="34" charset="0"/>
              </a:rPr>
              <a:t>handle_unknown</a:t>
            </a:r>
            <a:r>
              <a:rPr lang="en-US" sz="1400" dirty="0">
                <a:latin typeface="Aptos" panose="020B0004020202020204" pitchFamily="34" charset="0"/>
              </a:rPr>
              <a:t>=‘ignore’,</a:t>
            </a:r>
            <a:r>
              <a:rPr lang="en-US" sz="1400" dirty="0" err="1">
                <a:latin typeface="Aptos" panose="020B0004020202020204" pitchFamily="34" charset="0"/>
              </a:rPr>
              <a:t>min_frequency</a:t>
            </a:r>
            <a:r>
              <a:rPr lang="en-US" sz="1400" dirty="0">
                <a:latin typeface="Aptos" panose="020B0004020202020204" pitchFamily="34" charset="0"/>
              </a:rPr>
              <a:t>=10) handles unseen and rare categories safely inside each training fold.</a:t>
            </a:r>
            <a:endParaRPr lang="en-IN" sz="1400" dirty="0">
              <a:latin typeface="Aptos" panose="020B00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773531-6450-4854-05F6-ABA66AD79F76}"/>
              </a:ext>
            </a:extLst>
          </p:cNvPr>
          <p:cNvCxnSpPr>
            <a:cxnSpLocks/>
          </p:cNvCxnSpPr>
          <p:nvPr/>
        </p:nvCxnSpPr>
        <p:spPr>
          <a:xfrm>
            <a:off x="7347098" y="839981"/>
            <a:ext cx="0" cy="5454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8BD0AA-916E-DEB5-97E8-F8BD158F38A2}"/>
              </a:ext>
            </a:extLst>
          </p:cNvPr>
          <p:cNvCxnSpPr>
            <a:cxnSpLocks/>
          </p:cNvCxnSpPr>
          <p:nvPr/>
        </p:nvCxnSpPr>
        <p:spPr>
          <a:xfrm flipH="1">
            <a:off x="7627089" y="3958859"/>
            <a:ext cx="409071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E2C8ED3-95F9-1302-3FB0-D110D7EF7923}"/>
              </a:ext>
            </a:extLst>
          </p:cNvPr>
          <p:cNvSpPr/>
          <p:nvPr/>
        </p:nvSpPr>
        <p:spPr>
          <a:xfrm>
            <a:off x="7750864" y="4325762"/>
            <a:ext cx="3843168" cy="1811367"/>
          </a:xfrm>
          <a:prstGeom prst="roundRect">
            <a:avLst/>
          </a:prstGeom>
          <a:solidFill>
            <a:srgbClr val="FDFDFD"/>
          </a:solidFill>
          <a:ln w="3175">
            <a:solidFill>
              <a:srgbClr val="8CA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AC61E73-1F6F-AA6F-7F85-3172E4E439E7}"/>
              </a:ext>
            </a:extLst>
          </p:cNvPr>
          <p:cNvGrpSpPr/>
          <p:nvPr/>
        </p:nvGrpSpPr>
        <p:grpSpPr>
          <a:xfrm>
            <a:off x="8003136" y="4585114"/>
            <a:ext cx="3338625" cy="1292662"/>
            <a:chOff x="7899984" y="4508274"/>
            <a:chExt cx="3338625" cy="1292662"/>
          </a:xfrm>
        </p:grpSpPr>
        <p:pic>
          <p:nvPicPr>
            <p:cNvPr id="35" name="Picture 34" descr="Blue Shield in Hand Icon Isolated on Transparent Background. Insurance  Concept. Guard Sign Stock Illustration - Illustration of emblem, transparent:  297482983">
              <a:extLst>
                <a:ext uri="{FF2B5EF4-FFF2-40B4-BE49-F238E27FC236}">
                  <a16:creationId xmlns:a16="http://schemas.microsoft.com/office/drawing/2014/main" id="{1FA79694-C26D-DC61-2317-39B2CA106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899984" y="4592409"/>
              <a:ext cx="1124393" cy="112439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D887844-738C-8390-0317-37BE8A67EDCC}"/>
                </a:ext>
              </a:extLst>
            </p:cNvPr>
            <p:cNvSpPr txBox="1"/>
            <p:nvPr/>
          </p:nvSpPr>
          <p:spPr>
            <a:xfrm>
              <a:off x="9162606" y="4508274"/>
              <a:ext cx="2076003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3C6871"/>
                  </a:solidFill>
                  <a:latin typeface="Aptos" panose="020B0004020202020204" pitchFamily="34" charset="0"/>
                </a:rPr>
                <a:t>LEAKAGE GUARD:</a:t>
              </a:r>
            </a:p>
            <a:p>
              <a:endParaRPr lang="en-IN" sz="1200" dirty="0">
                <a:latin typeface="Aptos" panose="020B0004020202020204" pitchFamily="34" charset="0"/>
              </a:endParaRPr>
            </a:p>
            <a:p>
              <a:r>
                <a:rPr lang="en-IN" sz="1200" dirty="0" err="1">
                  <a:latin typeface="Aptos" panose="020B0004020202020204" pitchFamily="34" charset="0"/>
                </a:rPr>
                <a:t>Work_interfere</a:t>
              </a:r>
              <a:r>
                <a:rPr lang="en-IN" sz="1200" dirty="0">
                  <a:latin typeface="Aptos" panose="020B0004020202020204" pitchFamily="34" charset="0"/>
                </a:rPr>
                <a:t>, </a:t>
              </a:r>
              <a:r>
                <a:rPr lang="en-IN" sz="1200" dirty="0" err="1">
                  <a:latin typeface="Aptos" panose="020B0004020202020204" pitchFamily="34" charset="0"/>
                </a:rPr>
                <a:t>family_history</a:t>
              </a:r>
              <a:r>
                <a:rPr lang="en-IN" sz="1200" dirty="0">
                  <a:latin typeface="Aptos" panose="020B0004020202020204" pitchFamily="34" charset="0"/>
                </a:rPr>
                <a:t>, treatment and </a:t>
              </a:r>
              <a:r>
                <a:rPr lang="en-IN" sz="1200" dirty="0" err="1">
                  <a:latin typeface="Aptos" panose="020B0004020202020204" pitchFamily="34" charset="0"/>
                </a:rPr>
                <a:t>obs_consequence</a:t>
              </a:r>
              <a:r>
                <a:rPr lang="en-IN" sz="1200" dirty="0">
                  <a:latin typeface="Aptos" panose="020B0004020202020204" pitchFamily="34" charset="0"/>
                </a:rPr>
                <a:t> </a:t>
              </a:r>
              <a:r>
                <a:rPr lang="en-IN" sz="1200" b="1" dirty="0">
                  <a:solidFill>
                    <a:srgbClr val="3C6871"/>
                  </a:solidFill>
                  <a:latin typeface="Aptos" panose="020B0004020202020204" pitchFamily="34" charset="0"/>
                </a:rPr>
                <a:t>never enter 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846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B7C3-01B0-DD32-DB9B-CB26D267F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E7542-7930-B358-5311-52129AE0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92" y="91440"/>
            <a:ext cx="11243617" cy="347472"/>
          </a:xfrm>
        </p:spPr>
        <p:txBody>
          <a:bodyPr>
            <a:noAutofit/>
          </a:bodyPr>
          <a:lstStyle/>
          <a:p>
            <a:r>
              <a:rPr lang="en-IN" sz="2400" b="1" spc="300" dirty="0" err="1"/>
              <a:t>Modeling</a:t>
            </a:r>
            <a:r>
              <a:rPr lang="en-IN" sz="2400" b="1" spc="300" dirty="0"/>
              <a:t> workflow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C130619-9B96-85D4-790C-5D9316E7A926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  <a:solidFill>
            <a:srgbClr val="386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CD800-4D06-0229-3C6B-D4FB402EC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91" y="821476"/>
            <a:ext cx="11578418" cy="1555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F471CC-8798-490B-1896-0004FF45FF02}"/>
              </a:ext>
            </a:extLst>
          </p:cNvPr>
          <p:cNvSpPr txBox="1"/>
          <p:nvPr/>
        </p:nvSpPr>
        <p:spPr>
          <a:xfrm>
            <a:off x="487606" y="2353668"/>
            <a:ext cx="144841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80% train/ 20% test, Stratified (1,007/252)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BCC44F-6D20-4FCE-77E7-A0F776D52C8D}"/>
              </a:ext>
            </a:extLst>
          </p:cNvPr>
          <p:cNvSpPr txBox="1"/>
          <p:nvPr/>
        </p:nvSpPr>
        <p:spPr>
          <a:xfrm>
            <a:off x="2485952" y="2359153"/>
            <a:ext cx="144841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ColumnTransformer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inside </a:t>
            </a: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sklearn.Pipeline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0AF99E-0270-D968-57F0-032602A3466E}"/>
              </a:ext>
            </a:extLst>
          </p:cNvPr>
          <p:cNvSpPr txBox="1"/>
          <p:nvPr/>
        </p:nvSpPr>
        <p:spPr>
          <a:xfrm>
            <a:off x="4484298" y="2353668"/>
            <a:ext cx="132401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10 models with 10-fold </a:t>
            </a: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StratifiedKFold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A43BB5-22F7-EBD8-7E2E-14BFA7DDE434}"/>
              </a:ext>
            </a:extLst>
          </p:cNvPr>
          <p:cNvSpPr txBox="1"/>
          <p:nvPr/>
        </p:nvSpPr>
        <p:spPr>
          <a:xfrm>
            <a:off x="6468566" y="2384757"/>
            <a:ext cx="12593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Macro-F1 gives both classes equal weight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516F3-0B1E-7BB6-31C1-F87F3A333864}"/>
              </a:ext>
            </a:extLst>
          </p:cNvPr>
          <p:cNvSpPr txBox="1"/>
          <p:nvPr/>
        </p:nvSpPr>
        <p:spPr>
          <a:xfrm>
            <a:off x="8388176" y="2353668"/>
            <a:ext cx="11727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GridSearchCV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on training folds only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452665-E641-F4BD-3C82-C79E6A2FE84F}"/>
              </a:ext>
            </a:extLst>
          </p:cNvPr>
          <p:cNvSpPr txBox="1"/>
          <p:nvPr/>
        </p:nvSpPr>
        <p:spPr>
          <a:xfrm>
            <a:off x="10187717" y="2377441"/>
            <a:ext cx="147450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Classification report, confusion matrix and ROC-AUC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723736E-5655-5E25-FDCF-AC408E65B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66" y="3100712"/>
            <a:ext cx="482625" cy="34291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A19F389-0759-21B6-032E-B0D1C87D2943}"/>
              </a:ext>
            </a:extLst>
          </p:cNvPr>
          <p:cNvSpPr txBox="1"/>
          <p:nvPr/>
        </p:nvSpPr>
        <p:spPr>
          <a:xfrm>
            <a:off x="970231" y="3167390"/>
            <a:ext cx="4652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CODE PATTERN: Pipeline([('preprocess', preprocessor), ('model', model)])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21052E4-3A44-2AB8-3787-DC640B31A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866" y="3510308"/>
            <a:ext cx="11077726" cy="282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21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8678E-2A4D-7F37-0B53-0D6D31BA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C32304-BD0B-626F-3BF8-99BE665803FD}"/>
              </a:ext>
            </a:extLst>
          </p:cNvPr>
          <p:cNvSpPr/>
          <p:nvPr/>
        </p:nvSpPr>
        <p:spPr>
          <a:xfrm>
            <a:off x="548638" y="658825"/>
            <a:ext cx="8010145" cy="877368"/>
          </a:xfrm>
          <a:prstGeom prst="roundRect">
            <a:avLst/>
          </a:prstGeom>
          <a:solidFill>
            <a:srgbClr val="F6F9FA"/>
          </a:solidFill>
          <a:ln>
            <a:solidFill>
              <a:srgbClr val="B5CFD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FC74D-04CF-02C8-14D6-E1C85AC2B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92" y="91440"/>
            <a:ext cx="11243617" cy="347472"/>
          </a:xfrm>
        </p:spPr>
        <p:txBody>
          <a:bodyPr>
            <a:noAutofit/>
          </a:bodyPr>
          <a:lstStyle/>
          <a:p>
            <a:r>
              <a:rPr lang="en-IN" sz="2400" b="1" spc="300" dirty="0" err="1"/>
              <a:t>Modeling</a:t>
            </a:r>
            <a:r>
              <a:rPr lang="en-IN" sz="2400" b="1" spc="300" dirty="0"/>
              <a:t> comparison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16BB0B3-F4DE-9CDA-967B-3C4C410CD8A9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  <a:solidFill>
            <a:srgbClr val="386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E4E0C-7987-B8CB-BAE4-FFAB135FC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06" y="753779"/>
            <a:ext cx="647733" cy="6540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D97770-D9C7-EFCD-854B-8CA2AB393655}"/>
              </a:ext>
            </a:extLst>
          </p:cNvPr>
          <p:cNvSpPr txBox="1"/>
          <p:nvPr/>
        </p:nvSpPr>
        <p:spPr>
          <a:xfrm>
            <a:off x="1514246" y="753779"/>
            <a:ext cx="57643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Tuned 10-fold cross-validation macro-F1 scores on the training set. Extra Trees ranks first at 0.6263, narrowly ahead of Random Forest at 0.6261; the untouched test set is not used for model selection.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B91040-7E0D-5417-451C-EAD4DEB2E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388" y="1756106"/>
            <a:ext cx="8335158" cy="445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68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458F-10D3-9E15-8C8F-9DEC77C5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902E-CA3E-66A1-0D64-6601CBB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92" y="91440"/>
            <a:ext cx="11243617" cy="347472"/>
          </a:xfrm>
        </p:spPr>
        <p:txBody>
          <a:bodyPr>
            <a:noAutofit/>
          </a:bodyPr>
          <a:lstStyle/>
          <a:p>
            <a:r>
              <a:rPr lang="en-IN" sz="2400" b="1" spc="300" dirty="0"/>
              <a:t>Best model results – extra trees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BF107CF-9212-4F14-1235-1B9EFA53AA44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  <a:solidFill>
            <a:srgbClr val="386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BD17A1-D3AC-D1F9-1BD1-CFA50B9AD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229" t="1167" r="1657" b="88082"/>
          <a:stretch>
            <a:fillRect/>
          </a:stretch>
        </p:blipFill>
        <p:spPr>
          <a:xfrm>
            <a:off x="9703253" y="16799"/>
            <a:ext cx="1324679" cy="496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DB1902-38E5-0FFF-E036-4183FAC2A2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6" t="11859" r="1712" b="2569"/>
          <a:stretch>
            <a:fillRect/>
          </a:stretch>
        </p:blipFill>
        <p:spPr>
          <a:xfrm>
            <a:off x="1094868" y="591715"/>
            <a:ext cx="9988410" cy="591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FE2B-6550-9BB1-6CD3-FACA94C87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7536-A4D7-C6A7-FC43-3C054854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92" y="91440"/>
            <a:ext cx="11243617" cy="347472"/>
          </a:xfrm>
        </p:spPr>
        <p:txBody>
          <a:bodyPr>
            <a:noAutofit/>
          </a:bodyPr>
          <a:lstStyle/>
          <a:p>
            <a:r>
              <a:rPr lang="en-IN" sz="2400" b="1" spc="300" dirty="0"/>
              <a:t>Project challenges and how they were addressed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E27B0E9-3FD2-6CD4-6868-19721BC4509E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  <a:solidFill>
            <a:srgbClr val="386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DA9A67-9AD6-50FD-F75F-A94DF2E98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325" y="579479"/>
            <a:ext cx="8931350" cy="595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64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274A-B50E-FF4E-9709-0C769DA0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AD9B0-C7F5-40B9-0F2F-16985980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92" y="91440"/>
            <a:ext cx="11243617" cy="347472"/>
          </a:xfrm>
        </p:spPr>
        <p:txBody>
          <a:bodyPr>
            <a:noAutofit/>
          </a:bodyPr>
          <a:lstStyle/>
          <a:p>
            <a:r>
              <a:rPr lang="en-IN" sz="2400" b="1" spc="300" dirty="0"/>
              <a:t>Conclusion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918D08-B411-4D6D-39A6-5CA407CABCAB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  <a:solidFill>
            <a:srgbClr val="3869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8A2547D-E896-7495-E24F-1C2F47708D68}"/>
              </a:ext>
            </a:extLst>
          </p:cNvPr>
          <p:cNvGrpSpPr/>
          <p:nvPr/>
        </p:nvGrpSpPr>
        <p:grpSpPr>
          <a:xfrm>
            <a:off x="362052" y="696421"/>
            <a:ext cx="11274981" cy="5732090"/>
            <a:chOff x="362052" y="696421"/>
            <a:chExt cx="11274981" cy="573209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44E6BB5-7AFC-85E0-9C24-754B7EBC20C3}"/>
                </a:ext>
              </a:extLst>
            </p:cNvPr>
            <p:cNvGrpSpPr/>
            <p:nvPr/>
          </p:nvGrpSpPr>
          <p:grpSpPr>
            <a:xfrm>
              <a:off x="362053" y="696421"/>
              <a:ext cx="11274980" cy="2814530"/>
              <a:chOff x="362053" y="696421"/>
              <a:chExt cx="11274980" cy="281453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77E65C5-27EB-10FE-3250-A69781B28BEF}"/>
                  </a:ext>
                </a:extLst>
              </p:cNvPr>
              <p:cNvGrpSpPr/>
              <p:nvPr/>
            </p:nvGrpSpPr>
            <p:grpSpPr>
              <a:xfrm>
                <a:off x="362053" y="696421"/>
                <a:ext cx="11274980" cy="1355750"/>
                <a:chOff x="362054" y="696421"/>
                <a:chExt cx="11274980" cy="1355750"/>
              </a:xfrm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52AF8E74-379C-3ABC-05F1-87A6DAC820B8}"/>
                    </a:ext>
                  </a:extLst>
                </p:cNvPr>
                <p:cNvSpPr/>
                <p:nvPr/>
              </p:nvSpPr>
              <p:spPr>
                <a:xfrm>
                  <a:off x="474192" y="696421"/>
                  <a:ext cx="11162842" cy="1355750"/>
                </a:xfrm>
                <a:prstGeom prst="roundRect">
                  <a:avLst>
                    <a:gd name="adj" fmla="val 3799"/>
                  </a:avLst>
                </a:prstGeom>
                <a:solidFill>
                  <a:srgbClr val="F8FBFF"/>
                </a:solidFill>
                <a:ln w="3175">
                  <a:solidFill>
                    <a:srgbClr val="8CA8B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ova Light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ectangle: Top Corners Rounded 15">
                  <a:extLst>
                    <a:ext uri="{FF2B5EF4-FFF2-40B4-BE49-F238E27FC236}">
                      <a16:creationId xmlns:a16="http://schemas.microsoft.com/office/drawing/2014/main" id="{DE2E9FF4-86B8-143A-593D-C82707F3C581}"/>
                    </a:ext>
                  </a:extLst>
                </p:cNvPr>
                <p:cNvSpPr/>
                <p:nvPr/>
              </p:nvSpPr>
              <p:spPr>
                <a:xfrm rot="16200000">
                  <a:off x="534010" y="524465"/>
                  <a:ext cx="1355749" cy="1699662"/>
                </a:xfrm>
                <a:prstGeom prst="round2SameRect">
                  <a:avLst>
                    <a:gd name="adj1" fmla="val 12265"/>
                    <a:gd name="adj2" fmla="val 0"/>
                  </a:avLst>
                </a:prstGeom>
                <a:solidFill>
                  <a:srgbClr val="3C687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1821093-E1BA-CF8F-F172-D055A2BFB9BA}"/>
                  </a:ext>
                </a:extLst>
              </p:cNvPr>
              <p:cNvGrpSpPr/>
              <p:nvPr/>
            </p:nvGrpSpPr>
            <p:grpSpPr>
              <a:xfrm>
                <a:off x="362053" y="2155201"/>
                <a:ext cx="11274980" cy="1355750"/>
                <a:chOff x="362054" y="696421"/>
                <a:chExt cx="11274980" cy="1355750"/>
              </a:xfrm>
            </p:grpSpPr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360B2E28-A6ED-5892-F7A8-29D2C877BEC4}"/>
                    </a:ext>
                  </a:extLst>
                </p:cNvPr>
                <p:cNvSpPr/>
                <p:nvPr/>
              </p:nvSpPr>
              <p:spPr>
                <a:xfrm>
                  <a:off x="474192" y="696421"/>
                  <a:ext cx="11162842" cy="1355750"/>
                </a:xfrm>
                <a:prstGeom prst="roundRect">
                  <a:avLst>
                    <a:gd name="adj" fmla="val 3799"/>
                  </a:avLst>
                </a:prstGeom>
                <a:solidFill>
                  <a:srgbClr val="F8FBFF"/>
                </a:solidFill>
                <a:ln w="3175">
                  <a:solidFill>
                    <a:srgbClr val="8CA8B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ova Light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: Top Corners Rounded 23">
                  <a:extLst>
                    <a:ext uri="{FF2B5EF4-FFF2-40B4-BE49-F238E27FC236}">
                      <a16:creationId xmlns:a16="http://schemas.microsoft.com/office/drawing/2014/main" id="{C3357889-8EED-63B5-8A31-CF5535EF9E24}"/>
                    </a:ext>
                  </a:extLst>
                </p:cNvPr>
                <p:cNvSpPr/>
                <p:nvPr/>
              </p:nvSpPr>
              <p:spPr>
                <a:xfrm rot="16200000">
                  <a:off x="534010" y="524465"/>
                  <a:ext cx="1355749" cy="1699662"/>
                </a:xfrm>
                <a:prstGeom prst="round2SameRect">
                  <a:avLst>
                    <a:gd name="adj1" fmla="val 12265"/>
                    <a:gd name="adj2" fmla="val 0"/>
                  </a:avLst>
                </a:prstGeom>
                <a:solidFill>
                  <a:srgbClr val="3C687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8A1C97A-3268-F9A0-4626-7F3C88F27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312" t="7500" r="18715" b="8749"/>
            <a:stretch>
              <a:fillRect/>
            </a:stretch>
          </p:blipFill>
          <p:spPr>
            <a:xfrm>
              <a:off x="859637" y="999520"/>
              <a:ext cx="704489" cy="70274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A7A47DC-E89D-6FB4-C726-BDA36C909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7946" t="9769" r="28165" b="12813"/>
            <a:stretch>
              <a:fillRect/>
            </a:stretch>
          </p:blipFill>
          <p:spPr>
            <a:xfrm>
              <a:off x="859637" y="2410967"/>
              <a:ext cx="704489" cy="797407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C72279F-513D-F0BD-C25F-4E4087D2CAC1}"/>
                </a:ext>
              </a:extLst>
            </p:cNvPr>
            <p:cNvGrpSpPr/>
            <p:nvPr/>
          </p:nvGrpSpPr>
          <p:grpSpPr>
            <a:xfrm>
              <a:off x="362052" y="3613981"/>
              <a:ext cx="11274980" cy="2814530"/>
              <a:chOff x="362053" y="696421"/>
              <a:chExt cx="11274980" cy="281453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5F3135C-A3F8-CD46-EF6D-8E5D740C058A}"/>
                  </a:ext>
                </a:extLst>
              </p:cNvPr>
              <p:cNvGrpSpPr/>
              <p:nvPr/>
            </p:nvGrpSpPr>
            <p:grpSpPr>
              <a:xfrm>
                <a:off x="362053" y="696421"/>
                <a:ext cx="11274980" cy="1355750"/>
                <a:chOff x="362054" y="696421"/>
                <a:chExt cx="11274980" cy="1355750"/>
              </a:xfrm>
            </p:grpSpPr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C785546F-D8EF-3C53-31F9-44FFD42CD0C9}"/>
                    </a:ext>
                  </a:extLst>
                </p:cNvPr>
                <p:cNvSpPr/>
                <p:nvPr/>
              </p:nvSpPr>
              <p:spPr>
                <a:xfrm>
                  <a:off x="474192" y="696421"/>
                  <a:ext cx="11162842" cy="1355750"/>
                </a:xfrm>
                <a:prstGeom prst="roundRect">
                  <a:avLst>
                    <a:gd name="adj" fmla="val 3799"/>
                  </a:avLst>
                </a:prstGeom>
                <a:solidFill>
                  <a:srgbClr val="F8FBFF"/>
                </a:solidFill>
                <a:ln w="3175">
                  <a:solidFill>
                    <a:srgbClr val="8CA8B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ova Ligh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: Top Corners Rounded 39">
                  <a:extLst>
                    <a:ext uri="{FF2B5EF4-FFF2-40B4-BE49-F238E27FC236}">
                      <a16:creationId xmlns:a16="http://schemas.microsoft.com/office/drawing/2014/main" id="{0F7A0646-C054-717A-1A41-F2765711AF21}"/>
                    </a:ext>
                  </a:extLst>
                </p:cNvPr>
                <p:cNvSpPr/>
                <p:nvPr/>
              </p:nvSpPr>
              <p:spPr>
                <a:xfrm rot="16200000">
                  <a:off x="534010" y="524465"/>
                  <a:ext cx="1355749" cy="1699662"/>
                </a:xfrm>
                <a:prstGeom prst="round2SameRect">
                  <a:avLst>
                    <a:gd name="adj1" fmla="val 12265"/>
                    <a:gd name="adj2" fmla="val 0"/>
                  </a:avLst>
                </a:prstGeom>
                <a:solidFill>
                  <a:srgbClr val="3C687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B5656E07-B8B8-1A95-2E46-07248E39E9AD}"/>
                  </a:ext>
                </a:extLst>
              </p:cNvPr>
              <p:cNvGrpSpPr/>
              <p:nvPr/>
            </p:nvGrpSpPr>
            <p:grpSpPr>
              <a:xfrm>
                <a:off x="362053" y="2155201"/>
                <a:ext cx="11274980" cy="1355750"/>
                <a:chOff x="362054" y="696421"/>
                <a:chExt cx="11274980" cy="1355750"/>
              </a:xfrm>
            </p:grpSpPr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4B7EFDB9-A085-4765-7A62-74E4852422B5}"/>
                    </a:ext>
                  </a:extLst>
                </p:cNvPr>
                <p:cNvSpPr/>
                <p:nvPr/>
              </p:nvSpPr>
              <p:spPr>
                <a:xfrm>
                  <a:off x="474192" y="696421"/>
                  <a:ext cx="11162842" cy="1355750"/>
                </a:xfrm>
                <a:prstGeom prst="roundRect">
                  <a:avLst>
                    <a:gd name="adj" fmla="val 3799"/>
                  </a:avLst>
                </a:prstGeom>
                <a:solidFill>
                  <a:srgbClr val="F8FBFF"/>
                </a:solidFill>
                <a:ln w="3175">
                  <a:solidFill>
                    <a:srgbClr val="8CA8B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ova Ligh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: Top Corners Rounded 37">
                  <a:extLst>
                    <a:ext uri="{FF2B5EF4-FFF2-40B4-BE49-F238E27FC236}">
                      <a16:creationId xmlns:a16="http://schemas.microsoft.com/office/drawing/2014/main" id="{399094F2-5CEC-F608-660C-4D085832C0DE}"/>
                    </a:ext>
                  </a:extLst>
                </p:cNvPr>
                <p:cNvSpPr/>
                <p:nvPr/>
              </p:nvSpPr>
              <p:spPr>
                <a:xfrm rot="16200000">
                  <a:off x="534010" y="524465"/>
                  <a:ext cx="1355749" cy="1699662"/>
                </a:xfrm>
                <a:prstGeom prst="round2SameRect">
                  <a:avLst>
                    <a:gd name="adj1" fmla="val 12265"/>
                    <a:gd name="adj2" fmla="val 0"/>
                  </a:avLst>
                </a:prstGeom>
                <a:solidFill>
                  <a:srgbClr val="3C687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69D91ED-387B-5E85-1062-20F6F1413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931" t="8369" r="18899" b="11765"/>
            <a:stretch>
              <a:fillRect/>
            </a:stretch>
          </p:blipFill>
          <p:spPr>
            <a:xfrm>
              <a:off x="828005" y="3940485"/>
              <a:ext cx="767751" cy="702741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BDCCEC8-8462-F80E-B9C5-CF4F2D2C6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6444" t="6810" r="24811" b="13620"/>
            <a:stretch>
              <a:fillRect/>
            </a:stretch>
          </p:blipFill>
          <p:spPr>
            <a:xfrm>
              <a:off x="771933" y="5294316"/>
              <a:ext cx="879894" cy="957532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5ACDD1A-FB6B-06A1-9858-E069A4825A3B}"/>
              </a:ext>
            </a:extLst>
          </p:cNvPr>
          <p:cNvSpPr txBox="1"/>
          <p:nvPr/>
        </p:nvSpPr>
        <p:spPr>
          <a:xfrm>
            <a:off x="2173854" y="716481"/>
            <a:ext cx="92880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3C687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Proposed Solution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00" b="1" i="0" u="none" strike="noStrike" kern="1200" cap="none" spc="0" normalizeH="0" baseline="0" noProof="0" dirty="0">
              <a:ln>
                <a:noFill/>
              </a:ln>
              <a:solidFill>
                <a:srgbClr val="3C687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The project converts an unlabelled survey into a reproducible binary-classification task while explicitly blocking target leakage.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AF4832-DCF8-5601-FC58-ADD571DAA3A5}"/>
              </a:ext>
            </a:extLst>
          </p:cNvPr>
          <p:cNvSpPr txBox="1"/>
          <p:nvPr/>
        </p:nvSpPr>
        <p:spPr>
          <a:xfrm>
            <a:off x="2173854" y="2179714"/>
            <a:ext cx="92880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3C687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Best Model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00" b="1" i="0" u="none" strike="noStrike" kern="1200" cap="none" spc="0" normalizeH="0" baseline="0" noProof="0" dirty="0">
              <a:ln>
                <a:noFill/>
              </a:ln>
              <a:solidFill>
                <a:srgbClr val="3C687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Across ten tuned algorithms,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Extra Trees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achieved the best validation result (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Macro-F1 = 0.6263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). On the untouched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252-person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test set: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62.7%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accuracy, 62.3% macro precision,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62.4%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Macro-F1,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59.3%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High-risk recall, and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69.5%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ROC-AUC.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AC011C-F33F-3DB2-058A-370813CE8D18}"/>
              </a:ext>
            </a:extLst>
          </p:cNvPr>
          <p:cNvSpPr txBox="1"/>
          <p:nvPr/>
        </p:nvSpPr>
        <p:spPr>
          <a:xfrm>
            <a:off x="2173854" y="3632630"/>
            <a:ext cx="9288044" cy="133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3C687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Interpretation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C687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rgbClr val="3C687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The results indicate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moderate screening capability rather than diagnostic performance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. The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Extra Trees feature importance plot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serves as an interpretability aid by highlighting the workplace factors that contributed most to the model's predictions. These feature importance scores represent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predictive associations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, not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causal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or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clinical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relationships.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1E0E33-AF51-9946-04B8-0C9193E13D6E}"/>
              </a:ext>
            </a:extLst>
          </p:cNvPr>
          <p:cNvSpPr txBox="1"/>
          <p:nvPr/>
        </p:nvSpPr>
        <p:spPr>
          <a:xfrm>
            <a:off x="2173853" y="5066794"/>
            <a:ext cx="92880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3C687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Key Findings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00" b="1" i="0" u="none" strike="noStrike" kern="1200" cap="none" spc="0" normalizeH="0" baseline="0" noProof="0" dirty="0">
              <a:ln>
                <a:noFill/>
              </a:ln>
              <a:solidFill>
                <a:srgbClr val="3C687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Workplace-related factors, particularly care options, mental health consequences, and perceptions of mental versus physical health, consistently emerged as the strongest predictors of employee mental health risk.</a:t>
            </a:r>
          </a:p>
        </p:txBody>
      </p:sp>
    </p:spTree>
    <p:extLst>
      <p:ext uri="{BB962C8B-B14F-4D97-AF65-F5344CB8AC3E}">
        <p14:creationId xmlns:p14="http://schemas.microsoft.com/office/powerpoint/2010/main" val="1876086968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>
          <a:solidFill>
            <a:schemeClr val="phClr">
              <a:shade val="90000"/>
            </a:schemeClr>
          </a:solidFill>
          <a:prstDash val="solid"/>
        </a:ln>
        <a:ln w="15875">
          <a:solidFill>
            <a:schemeClr val="phClr"/>
          </a:solidFill>
          <a:prstDash val="solid"/>
        </a:ln>
        <a:ln w="222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  <a:sat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20000"/>
                <a:satMod val="92000"/>
              </a:schemeClr>
            </a:gs>
            <a:gs pos="100000">
              <a:schemeClr val="phClr">
                <a:shade val="98000"/>
                <a:lumMod val="98000"/>
                <a:satMod val="120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407</TotalTime>
  <Words>1598</Words>
  <Application>Microsoft Office PowerPoint</Application>
  <DocSecurity>0</DocSecurity>
  <PresentationFormat>Widescreen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Narrow</vt:lpstr>
      <vt:lpstr>Arial</vt:lpstr>
      <vt:lpstr>Arial Nova Light</vt:lpstr>
      <vt:lpstr>Century Gothic</vt:lpstr>
      <vt:lpstr>Univers Condensed</vt:lpstr>
      <vt:lpstr>Wingdings</vt:lpstr>
      <vt:lpstr>Lines</vt:lpstr>
      <vt:lpstr>Employee Mental-health Risk Stratification   Using Machine Learning ______  An Exploratory Survey-Based Screening Framework _________________________________________________</vt:lpstr>
      <vt:lpstr>Problem Statement &amp; Research Objectives</vt:lpstr>
      <vt:lpstr>Leakage-safe dataset design</vt:lpstr>
      <vt:lpstr>Engineering the risk target</vt:lpstr>
      <vt:lpstr>Initial cleaning, EDA and Leakage-safe pre-processing</vt:lpstr>
      <vt:lpstr>Modeling workflow</vt:lpstr>
      <vt:lpstr>Modeling comparison</vt:lpstr>
      <vt:lpstr>Best model results – extra trees</vt:lpstr>
      <vt:lpstr>Project challenges and how they were addressed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Betsy Varghese</cp:lastModifiedBy>
  <cp:revision>6</cp:revision>
  <dcterms:created xsi:type="dcterms:W3CDTF">2026-08-03T17:37:53Z</dcterms:created>
  <dcterms:modified xsi:type="dcterms:W3CDTF">2026-08-04T03:20:49Z</dcterms:modified>
</cp:coreProperties>
</file>